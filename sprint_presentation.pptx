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7" r:id="rId6"/>
    <p:sldId id="268" r:id="rId7"/>
    <p:sldId id="272" r:id="rId8"/>
    <p:sldId id="269" r:id="rId9"/>
    <p:sldId id="262" r:id="rId10"/>
    <p:sldId id="261" r:id="rId11"/>
    <p:sldId id="271" r:id="rId12"/>
    <p:sldId id="263" r:id="rId13"/>
    <p:sldId id="264" r:id="rId14"/>
    <p:sldId id="265" r:id="rId15"/>
    <p:sldId id="266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7FF"/>
    <a:srgbClr val="F8FBFD"/>
    <a:srgbClr val="A31BAF"/>
    <a:srgbClr val="C2400A"/>
    <a:srgbClr val="1E395E"/>
    <a:srgbClr val="1D2D5C"/>
    <a:srgbClr val="BE185D"/>
    <a:srgbClr val="FDF4FF"/>
    <a:srgbClr val="FFFBEC"/>
    <a:srgbClr val="0D76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26"/>
    <p:restoredTop sz="94610"/>
  </p:normalViewPr>
  <p:slideViewPr>
    <p:cSldViewPr snapToGrid="0" snapToObjects="1">
      <p:cViewPr>
        <p:scale>
          <a:sx n="158" d="100"/>
          <a:sy n="158" d="100"/>
        </p:scale>
        <p:origin x="55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B2A4A"/>
                </a:solidFill>
                <a:latin typeface="Arial"/>
              </a:rPr>
              <a:t>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369A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697-A646-864C-C0CBD4984DD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697-A646-864C-C0CBD4984DD0}"/>
              </c:ext>
            </c:extLst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697-A646-864C-C0CBD4984DD0}"/>
              </c:ext>
            </c:extLst>
          </c:dPt>
          <c:dPt>
            <c:idx val="3"/>
            <c:invertIfNegative val="0"/>
            <c:bubble3D val="0"/>
            <c:spPr>
              <a:solidFill>
                <a:srgbClr val="7E22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697-A646-864C-C0CBD4984DD0}"/>
              </c:ext>
            </c:extLst>
          </c:dPt>
          <c:dPt>
            <c:idx val="4"/>
            <c:invertIfNegative val="0"/>
            <c:bubble3D val="0"/>
            <c:spPr>
              <a:solidFill>
                <a:srgbClr val="7E22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697-A646-864C-C0CBD4984DD0}"/>
              </c:ext>
            </c:extLst>
          </c:dPt>
          <c:dPt>
            <c:idx val="5"/>
            <c:invertIfNegative val="0"/>
            <c:bubble3D val="0"/>
            <c:spPr>
              <a:solidFill>
                <a:srgbClr val="7E22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697-A646-864C-C0CBD4984DD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M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Extra
Trees</c:v>
                </c:pt>
                <c:pt idx="1">
                  <c:v>HistGB</c:v>
                </c:pt>
                <c:pt idx="2">
                  <c:v>XGBoost
+CUDA</c:v>
                </c:pt>
                <c:pt idx="3">
                  <c:v>MLP</c:v>
                </c:pt>
                <c:pt idx="4">
                  <c:v>Temporal
CNN</c:v>
                </c:pt>
                <c:pt idx="5">
                  <c:v>BiLSTM
Attn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75.209999999999994</c:v>
                </c:pt>
                <c:pt idx="1">
                  <c:v>74.89</c:v>
                </c:pt>
                <c:pt idx="2">
                  <c:v>76.459999999999994</c:v>
                </c:pt>
                <c:pt idx="3">
                  <c:v>72.8</c:v>
                </c:pt>
                <c:pt idx="4">
                  <c:v>73.12</c:v>
                </c:pt>
                <c:pt idx="5">
                  <c:v>73.98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697-A646-864C-C0CBD4984D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8"/>
          <c:min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4379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454CB-8B17-AC31-E66D-EBA77300D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F8B7F3-5A8F-FB89-74E8-0034367AC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5C281-D262-6B1D-0000-4D7F927E1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6B2B8-C6F5-148B-49C7-33B1871238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949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B6D42-C68F-1EE5-0447-65055B7E8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038F78-CB21-49BC-5B47-B6E1D5010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BCEB3-D3DE-9174-6EE6-AAA254719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7FB62-4FA9-352A-BB62-A6ACFE9D98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215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25314-6079-F29B-A168-32DAAEFE7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97FE35-0B90-4192-BD6D-0115CDCD8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AED6CA-ED0A-B1D4-F739-2F07B3223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D3EE8-6410-10C0-E9E4-3AA460C2C5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931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E3757-7271-61F0-773D-549E0006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BFF473-5B1A-C5D2-6552-665E6BF9E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6F0CE9-2F49-C0AE-751D-6459B5C18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9AB1B-8ED0-72FE-FFC5-3ED1B333A6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52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822960"/>
            <a:ext cx="3474720" cy="3474720"/>
          </a:xfrm>
          <a:prstGeom prst="ellipse">
            <a:avLst/>
          </a:prstGeom>
          <a:solidFill>
            <a:srgbClr val="0D3A5A"/>
          </a:solidFill>
          <a:ln w="12700">
            <a:solidFill>
              <a:srgbClr val="0D3A5A"/>
            </a:solidFill>
            <a:prstDash val="solid"/>
          </a:ln>
        </p:spPr>
        <p:txBody>
          <a:bodyPr/>
          <a:lstStyle/>
          <a:p>
            <a:endParaRPr lang="en-MN"/>
          </a:p>
        </p:txBody>
      </p:sp>
      <p:sp>
        <p:nvSpPr>
          <p:cNvPr id="3" name="Shape 1"/>
          <p:cNvSpPr/>
          <p:nvPr/>
        </p:nvSpPr>
        <p:spPr>
          <a:xfrm>
            <a:off x="8138160" y="3291840"/>
            <a:ext cx="2011680" cy="2011680"/>
          </a:xfrm>
          <a:prstGeom prst="ellipse">
            <a:avLst/>
          </a:prstGeom>
          <a:solidFill>
            <a:srgbClr val="0A2D48"/>
          </a:solidFill>
          <a:ln w="12700">
            <a:solidFill>
              <a:srgbClr val="0A2D48"/>
            </a:solidFill>
            <a:prstDash val="solid"/>
          </a:ln>
        </p:spPr>
        <p:txBody>
          <a:bodyPr/>
          <a:lstStyle/>
          <a:p>
            <a:endParaRPr lang="en-MN"/>
          </a:p>
        </p:txBody>
      </p:sp>
      <p:sp>
        <p:nvSpPr>
          <p:cNvPr id="4" name="Shape 2"/>
          <p:cNvSpPr/>
          <p:nvPr/>
        </p:nvSpPr>
        <p:spPr>
          <a:xfrm>
            <a:off x="-457200" y="3840480"/>
            <a:ext cx="1828800" cy="1828800"/>
          </a:xfrm>
          <a:prstGeom prst="ellipse">
            <a:avLst/>
          </a:prstGeom>
          <a:solidFill>
            <a:srgbClr val="0A2D48"/>
          </a:solidFill>
          <a:ln w="12700">
            <a:solidFill>
              <a:srgbClr val="0A2D48"/>
            </a:solidFill>
            <a:prstDash val="solid"/>
          </a:ln>
        </p:spPr>
        <p:txBody>
          <a:bodyPr/>
          <a:lstStyle/>
          <a:p>
            <a:endParaRPr lang="en-MN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SCRUM SPRINT PRESENTATION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Twin-Based
Smart System Development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IoT Midterm Project   |   April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Tsogbat B.  ·  </a:t>
            </a:r>
            <a:r>
              <a:rPr lang="en-US" sz="12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Khuslen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G.  ·  </a:t>
            </a:r>
            <a:r>
              <a:rPr lang="en-US" sz="12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Dulguun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M.  ·  Bayarmagnai M.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陳興忠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SCRUM Roles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team composition for the Digital Twin Smart System project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980944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SCRUM 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Responsibilities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Tsogbat Baterdene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113021197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user stories, manage product backlog, prioritize features, liaise with instructor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Khuslen Gantumur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113021189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Scrum Master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Facilitate sprint ceremonies, remove blockers, coordinate team communication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Dulguun Munkhtur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114021153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engineering, deep learning models (CNN, BiLSTM), dashboard UI implementation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Bayarmagnai Munkhbat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113021195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pipeline, ML models (Extra Trees, XGBoost), system integration &amp; testing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for wearable-based sleep analysis using machine learning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937760" cy="3520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MN"/>
          </a:p>
        </p:txBody>
      </p:sp>
      <p:sp>
        <p:nvSpPr>
          <p:cNvPr id="5" name="Text 3"/>
          <p:cNvSpPr/>
          <p:nvPr/>
        </p:nvSpPr>
        <p:spPr>
          <a:xfrm>
            <a:off x="594360" y="11338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Built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five-layer Digital Twin framework that ingests wrist-worn wearable sensor data (acceleration, heart rate, step count) and produces an interactive virtual model of the user's sleep health.
</a:t>
            </a:r>
            <a:r>
              <a:rPr lang="en-US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Feature Engineering → ML Prediction → Digital Twin State → Dashboard</a:t>
            </a: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predictive models (3 classical ML + 3 deep learning) were trained on 26,773 labeled epochs across 31 subjects. The system classifies sleep into three stages: Wake, NREM, and REM, and converts the predicted timeline into interpretable health metrics and what-if simulations.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23560" y="1005840"/>
            <a:ext cx="301752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8" name="Text 6"/>
          <p:cNvSpPr/>
          <p:nvPr/>
        </p:nvSpPr>
        <p:spPr>
          <a:xfrm>
            <a:off x="5669280" y="104241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26,773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669280" y="1463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Epochs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23560" y="1920240"/>
            <a:ext cx="301752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11" name="Text 9"/>
          <p:cNvSpPr/>
          <p:nvPr/>
        </p:nvSpPr>
        <p:spPr>
          <a:xfrm>
            <a:off x="5669280" y="195681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669280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23560" y="2834640"/>
            <a:ext cx="301752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14" name="Text 12"/>
          <p:cNvSpPr/>
          <p:nvPr/>
        </p:nvSpPr>
        <p:spPr>
          <a:xfrm>
            <a:off x="5669280" y="287121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66928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Trained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23560" y="3749040"/>
            <a:ext cx="301752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17" name="Text 15"/>
          <p:cNvSpPr/>
          <p:nvPr/>
        </p:nvSpPr>
        <p:spPr>
          <a:xfrm>
            <a:off x="5669280" y="378561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76.5%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66928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(XGBoost)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Backlog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9035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list of user stories — all items delivered across 5 sprints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957225"/>
              </p:ext>
            </p:extLst>
          </p:nvPr>
        </p:nvGraphicFramePr>
        <p:xfrm>
          <a:off x="457200" y="914400"/>
          <a:ext cx="8229600" cy="4133088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5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C2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reproducible project environment with GPU support so the team can begin data processing and model training efficiently.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13F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a robust data cleaning and epoch alignment pipeline so raw wearable sensor data is transformed into a usable feature matrix.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C2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comprehensive feature engineering module that extracts sleep-related patterns across multiple timescales (30 s–7 days).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C2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classical ML models (Extra Trees, HistGradientBoosting, XGBoost-CUDA) with balanced class weights for sleep stage classification.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C2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deep learning models (MLP, Temporal CNN, BiLSTM + Attention) for comparative benchmarking against classical ML.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13F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and implement a Digital Twin virtual state model that translates predicted sleep timelines into recovery, fatigue, and stress metrics.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13F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an interactive Streamlit dashboard for visualizing sleep hypnograms, Digital Twin metrics, and what-if simulations.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 comprehensive technical documentation and a professional sprint presentation for project evaluation.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D4764-82DA-C2AA-7117-230FB14C1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FE1D3E0-DD57-5E5A-1556-4B4B0168799B}"/>
              </a:ext>
            </a:extLst>
          </p:cNvPr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PBI Task Breakdown </a:t>
            </a: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PBI 1 to 4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CF1434-4464-D6A5-94C0-E405FFF60BBA}"/>
              </a:ext>
            </a:extLst>
          </p:cNvPr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39 development tasks mapped to 11 Product Backlog Items across 5 sprints</a:t>
            </a:r>
            <a:endParaRPr lang="en-US" sz="1200" dirty="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B19FD811-7ECF-EF97-BD4B-9CD7218F69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291096"/>
              </p:ext>
            </p:extLst>
          </p:nvPr>
        </p:nvGraphicFramePr>
        <p:xfrm>
          <a:off x="320040" y="987552"/>
          <a:ext cx="8503920" cy="3316224"/>
        </p:xfrm>
        <a:graphic>
          <a:graphicData uri="http://schemas.openxmlformats.org/drawingml/2006/table">
            <a:tbl>
              <a:tblPr/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5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Backlog Item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588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up reproducible project environment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Python dependencies &amp; configure GPU environment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588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&amp; verify wearable sensor dataset from source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588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dataset structure, PSG label alignment &amp; subject IDs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588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data cleaning &amp; epoch alignment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physiological HR filter (25–240 BPM) to raw sensor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588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30-second epoch alignment &amp; feature extraction windows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2588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feature matrix caching system (.npz) for reproducibility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2588"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feature engineering module (318 features)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8 time-context &amp; circadian proxy features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2588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triaxial motion feature pipeline: 7 series × 3 windows × 9 stats = 189 features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2588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heart-rate feature pipeline: 3 series × 4 windows × 9 stats + 2 const = 114 features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2588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step-history lookback features (2 h–7 d) = 7 features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2588"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C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&amp; evaluate classical ML models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Extra Trees classifier (750 trees, balanced class weights)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284991"/>
                  </a:ext>
                </a:extLst>
              </a:tr>
              <a:tr h="132588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HistGradientBoosting (550 iterations, LR=0.035, early stopping)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64248"/>
                  </a:ext>
                </a:extLst>
              </a:tr>
              <a:tr h="132588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XGBoost (850 estimators, depth=4, CUDA device acceleration)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833673"/>
                  </a:ext>
                </a:extLst>
              </a:tr>
              <a:tr h="132588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subject-level GroupShuffleSplit evaluation (19 train / 5 val / 7 test subjects)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865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173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35EF1-6592-49FE-5862-7F296664B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0C9E701-58B0-AEBA-BB83-B7DA98E4A3B1}"/>
              </a:ext>
            </a:extLst>
          </p:cNvPr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PBI Task Breakdown </a:t>
            </a:r>
            <a:r>
              <a:rPr lang="en-US" sz="2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PBI 5 to 8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55D30AC-C16B-0CE4-CAB1-CF8A07EE1B60}"/>
              </a:ext>
            </a:extLst>
          </p:cNvPr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39 development tasks mapped to 11 Product Backlog Items across 5 sprints</a:t>
            </a:r>
            <a:endParaRPr lang="en-US" sz="1200" dirty="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79753C02-A974-A8ED-BE6A-0C382613F0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685037"/>
              </p:ext>
            </p:extLst>
          </p:nvPr>
        </p:nvGraphicFramePr>
        <p:xfrm>
          <a:off x="320040" y="987552"/>
          <a:ext cx="8503920" cy="3102864"/>
        </p:xfrm>
        <a:graphic>
          <a:graphicData uri="http://schemas.openxmlformats.org/drawingml/2006/table">
            <a:tbl>
              <a:tblPr/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5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Backlog Item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588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7E2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E2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deep learning models for comparison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E2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Design &amp; train Multilayer Perceptron (MLP) on tabular features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2588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E2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Design &amp; train Temporal CNN with 1D convolutional layers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2588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E2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&amp; train Bidirectional LSTM with Self-Attention mechanism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2588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F12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F12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Digital Twin virtual state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F12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state variable schema: Recovery, Fatigue, Stress Index, Energy, Sleep Quality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2588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F12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score calculation logic from predicted sleep timeline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2588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F12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what-if simulation engine (reduce sleep / increase training load)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2588"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interactive Streamlit 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&amp; scaffold multi-page Streamlit dashboard layout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925277"/>
                  </a:ext>
                </a:extLst>
              </a:tr>
              <a:tr h="132588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sleep stage hypnogram &amp; timeline visualization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787393"/>
                  </a:ext>
                </a:extLst>
              </a:tr>
              <a:tr h="132588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 Digital Twin metrics display panel with health scores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423070"/>
                  </a:ext>
                </a:extLst>
              </a:tr>
              <a:tr h="132588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what-if simulation UI with slider controls &amp; result charts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60394"/>
                  </a:ext>
                </a:extLst>
              </a:tr>
              <a:tr h="132588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documentation &amp; project reporting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comprehensive technical report covering all modules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79536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 Scrum sprint presentation with backlog &amp; results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9573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 final system integration testing &amp; fix identified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739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3758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393906"/>
              </p:ext>
            </p:extLst>
          </p:nvPr>
        </p:nvGraphicFramePr>
        <p:xfrm>
          <a:off x="285750" y="1021012"/>
          <a:ext cx="8503200" cy="2833200"/>
        </p:xfrm>
        <a:graphic>
          <a:graphicData uri="http://schemas.openxmlformats.org/drawingml/2006/table">
            <a:tbl>
              <a:tblPr/>
              <a:tblGrid>
                <a:gridCol w="38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7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Backlog Item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800"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 optimization for best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7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up Optuna study with subject-level cross-validation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8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7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200-trial Bayesian search over XGBoost hyperparameters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8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7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9-3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SHAP feature importance analysis for top-50 features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8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7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9-4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Retrain best model &amp; validate on held-out test subjects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800"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deployment &amp; CI/CD automation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24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</a:t>
                      </a:r>
                      <a:endParaRPr lang="en-US" sz="900" dirty="0">
                        <a:solidFill>
                          <a:srgbClr val="C2400A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Containerize Streamlit app with Docker &amp; multi-stage build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88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24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10-2</a:t>
                      </a:r>
                      <a:endParaRPr lang="en-US" sz="900" dirty="0">
                        <a:solidFill>
                          <a:srgbClr val="C2400A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to Streamlit Cloud with environment secrets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8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24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10-3</a:t>
                      </a:r>
                      <a:endParaRPr lang="en-US" sz="900" dirty="0">
                        <a:solidFill>
                          <a:srgbClr val="C2400A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 custom domain &amp; HTTPS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88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24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10-4</a:t>
                      </a:r>
                      <a:endParaRPr lang="en-US" sz="900" dirty="0">
                        <a:solidFill>
                          <a:srgbClr val="C2400A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up CI/CD pipeline for auto-deploy on main push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800"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21C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FF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A21C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testing &amp; feedback </a:t>
                      </a:r>
                      <a:r>
                        <a:rPr lang="en-US" sz="900" b="1" dirty="0">
                          <a:solidFill>
                            <a:srgbClr val="A31B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</a:t>
                      </a:r>
                      <a:endParaRPr lang="en-US" sz="900" dirty="0">
                        <a:solidFill>
                          <a:srgbClr val="A31BAF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A31B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11-1</a:t>
                      </a:r>
                      <a:endParaRPr lang="en-US" sz="900" dirty="0">
                        <a:solidFill>
                          <a:srgbClr val="A31BAF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Recruit 8 student testers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88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A31B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11-2</a:t>
                      </a:r>
                      <a:endParaRPr lang="en-US" sz="900" dirty="0">
                        <a:solidFill>
                          <a:srgbClr val="A31BAF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15-question UX survey (SUS scale + open-ended)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88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A31B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11-3</a:t>
                      </a:r>
                      <a:endParaRPr lang="en-US" sz="900" dirty="0">
                        <a:solidFill>
                          <a:srgbClr val="A31BAF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 moderated testing sessions (45 min each)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88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A31B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11-4</a:t>
                      </a:r>
                      <a:endParaRPr lang="en-US" sz="900" dirty="0">
                        <a:solidFill>
                          <a:srgbClr val="A31BAF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 feedback &amp; document top-5 improvement priorities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F3AD8F1-737E-2AD8-54D2-67932B34A989}"/>
              </a:ext>
            </a:extLst>
          </p:cNvPr>
          <p:cNvSpPr txBox="1"/>
          <p:nvPr/>
        </p:nvSpPr>
        <p:spPr>
          <a:xfrm>
            <a:off x="367176" y="184472"/>
            <a:ext cx="73564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PBI Task Breakdown — PBI 9 to 11</a:t>
            </a:r>
            <a:endParaRPr lang="en-US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B3B06A-A5D7-95B4-1D3A-1C11C392B74B}"/>
              </a:ext>
            </a:extLst>
          </p:cNvPr>
          <p:cNvSpPr txBox="1"/>
          <p:nvPr/>
        </p:nvSpPr>
        <p:spPr>
          <a:xfrm>
            <a:off x="367176" y="638817"/>
            <a:ext cx="70319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39 development tasks mapped to 11 Product Backlog Items across 5 sprints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23444-4B1C-6FCB-EC54-A69A2F439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3CAC05B-3266-928D-19E4-0BFB199865BD}"/>
              </a:ext>
            </a:extLst>
          </p:cNvPr>
          <p:cNvSpPr/>
          <p:nvPr/>
        </p:nvSpPr>
        <p:spPr>
          <a:xfrm>
            <a:off x="365760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Execution Board — Sprints 1 &amp; 2  (US001–US003)</a:t>
            </a:r>
            <a:endParaRPr lang="en-US" sz="180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26520482-CE42-8D2A-1A1D-5B0909CC5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617860"/>
              </p:ext>
            </p:extLst>
          </p:nvPr>
        </p:nvGraphicFramePr>
        <p:xfrm>
          <a:off x="722376" y="541932"/>
          <a:ext cx="7699248" cy="3331464"/>
        </p:xfrm>
        <a:graphic>
          <a:graphicData uri="http://schemas.openxmlformats.org/drawingml/2006/table">
            <a:tbl>
              <a:tblPr/>
              <a:tblGrid>
                <a:gridCol w="504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05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6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9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2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40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40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40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40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4088">
                  <a:extLst>
                    <a:ext uri="{9D8B030D-6E8A-4147-A177-3AD203B41FA5}">
                      <a16:colId xmlns:a16="http://schemas.microsoft.com/office/drawing/2014/main" val="5107429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a developer, I need 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 the project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 with GPU support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Python deps &amp; configure GPU environment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Bayarmagnai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7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b="1" dirty="0">
                        <a:solidFill>
                          <a:srgbClr val="0D76A8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&amp; verify wearable sensor dataset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Dulguun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7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b="1" dirty="0">
                        <a:solidFill>
                          <a:srgbClr val="0D76A8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dataset structure &amp; PSG label files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Dulguun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7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b="1" dirty="0">
                        <a:solidFill>
                          <a:srgbClr val="0D76A8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a developer, I need 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data cleaning and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 alignment pipeline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HR physiological filter (25–240 BPM)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Khuslen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epoch alignment logic (30-second windows)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Khuslen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feature matrix caching system (.npz)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Bayarmagnai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a researcher, I need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engineered features capturing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patterns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8 time-context &amp; circadian proxy features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Khuslen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7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b="1" dirty="0">
                        <a:solidFill>
                          <a:srgbClr val="0D76A8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motion feature pipeline (189 features)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Dulguun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7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b="1" dirty="0">
                        <a:solidFill>
                          <a:srgbClr val="0D76A8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heart-rate feature pipeline (114 features)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Bayarmagnai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7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b="1" dirty="0">
                        <a:solidFill>
                          <a:srgbClr val="0D76A8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step-history lookback features (7 features)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Dulguun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7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b="1" dirty="0">
                        <a:solidFill>
                          <a:srgbClr val="0D76A8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1209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Execution Board — Sprints 3   (US004–US005)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095804"/>
              </p:ext>
            </p:extLst>
          </p:nvPr>
        </p:nvGraphicFramePr>
        <p:xfrm>
          <a:off x="722376" y="546853"/>
          <a:ext cx="7699248" cy="2636520"/>
        </p:xfrm>
        <a:graphic>
          <a:graphicData uri="http://schemas.openxmlformats.org/drawingml/2006/table">
            <a:tbl>
              <a:tblPr/>
              <a:tblGrid>
                <a:gridCol w="504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05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6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9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2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40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40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40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40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4088">
                  <a:extLst>
                    <a:ext uri="{9D8B030D-6E8A-4147-A177-3AD203B41FA5}">
                      <a16:colId xmlns:a16="http://schemas.microsoft.com/office/drawing/2014/main" val="321647337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a researcher, I need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ML models trained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engineered features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Extra Trees (750 trees, balanced weights)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Bayarmagnai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275158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HistGradientBoosting (550 max_iter, LR=0.035)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Khuslen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XGBoost (850 estimators, CUDA acceleration)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Dulguun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subject-level benchmark evaluation (7 test subjects)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Tsogbat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E2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a researcher, I need deep learning models for comparative benchmarking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Multilayer Perceptron (MLP) on tabular features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Dulguun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7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solidFill>
                          <a:srgbClr val="0D76A8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594573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Temporal CNN with 1D convolutional layers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Bayarmagnai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7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527753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Bidirectional LSTM with Self-Attention mechanism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Khuslen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7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7613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Execution Board — Sprint </a:t>
            </a:r>
            <a:r>
              <a:rPr lang="en-US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(US006–US008)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400887"/>
              </p:ext>
            </p:extLst>
          </p:nvPr>
        </p:nvGraphicFramePr>
        <p:xfrm>
          <a:off x="722376" y="541252"/>
          <a:ext cx="7699248" cy="3550920"/>
        </p:xfrm>
        <a:graphic>
          <a:graphicData uri="http://schemas.openxmlformats.org/drawingml/2006/table">
            <a:tbl>
              <a:tblPr/>
              <a:tblGrid>
                <a:gridCol w="504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05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6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9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2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40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40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40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40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4088">
                  <a:extLst>
                    <a:ext uri="{9D8B030D-6E8A-4147-A177-3AD203B41FA5}">
                      <a16:colId xmlns:a16="http://schemas.microsoft.com/office/drawing/2014/main" val="1894917339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9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a user, I need a Digital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Twin virtual state model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my health metrics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state variable schema (Recovery, Fatigue, Stress, Energy)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Tsogbat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271959"/>
                  </a:ext>
                </a:extLst>
              </a:tr>
              <a:tr h="283464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score calculation logic from predicted sleep timeline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Khuslen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813031"/>
                  </a:ext>
                </a:extLst>
              </a:tr>
              <a:tr h="283464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what-if simulation engine (sleep reduction / load increase)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Dulguun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338788"/>
                  </a:ext>
                </a:extLst>
              </a:tr>
              <a:tr h="283464"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a user, I need 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dashboard 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visualize my sleep twin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&amp; scaffold multi-page Streamlit dashboard layout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Tsogbat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7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b="1" dirty="0">
                        <a:solidFill>
                          <a:srgbClr val="0D76A8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solidFill>
                          <a:srgbClr val="0D76A8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sleep stage hypnogram &amp; timeline visualization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Bayarmagnai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7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b="1" dirty="0">
                        <a:solidFill>
                          <a:srgbClr val="0D76A8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solidFill>
                          <a:srgbClr val="0D76A8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 Digital Twin health metrics display panel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Khuslen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7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b="1" dirty="0">
                        <a:solidFill>
                          <a:srgbClr val="0D76A8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solidFill>
                          <a:srgbClr val="0D76A8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what-if simulation UI with slider controls &amp; result charts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Dulguun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7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b="1" dirty="0">
                        <a:solidFill>
                          <a:srgbClr val="0D76A8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1" dirty="0">
                        <a:solidFill>
                          <a:srgbClr val="0D76A8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a team, we need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documentation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project reporting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comprehensive technical report covering all modules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Tsogbat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 Scrum sprint presentation with backlog &amp; results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Khuslen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 final system integration testing &amp; fix identified issues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9566" y="79046"/>
            <a:ext cx="85725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1E2D5C"/>
                </a:solidFill>
                <a:latin typeface="Trebuchet MS" panose="020B0703020202090204" pitchFamily="34" charset="0"/>
                <a:ea typeface="Calibri" pitchFamily="34" charset="-122"/>
                <a:cs typeface="Calibri" pitchFamily="34" charset="-120"/>
              </a:rPr>
              <a:t>Sprint Execution Board — Sprint 5  (US009–US011)</a:t>
            </a:r>
            <a:endParaRPr lang="en-US" dirty="0">
              <a:latin typeface="Trebuchet MS" panose="020B0703020202090204" pitchFamily="34" charset="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301953"/>
              </p:ext>
            </p:extLst>
          </p:nvPr>
        </p:nvGraphicFramePr>
        <p:xfrm>
          <a:off x="703800" y="514802"/>
          <a:ext cx="7736400" cy="422199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9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9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9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9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9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9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9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9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9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9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400"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E2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US009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a researcher, I need hyperparameter optimization to improve XGBoost accuracy beyond 76.5%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up Optuna study with subject-level cross-validation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Bayarmagnai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8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4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200-trial Bayesian search over XGBoost hyperparameters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Dulguun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8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4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SHAP feature importance analysis for top-50 features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Khuslen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8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4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Retrain best model &amp; validate on held-out test subjects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Bayarmagnai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8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400"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E2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a user, I need the Digital Twin deployed online so I can access it from any device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Containerize Streamlit app with Docker &amp; multi-stage build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Tsogbat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8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7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4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to Streamlit Cloud with environment secrets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Khuslen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8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7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4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 custom domain &amp; HTTPS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Tsogbat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8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7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4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up CI/CD pipeline for auto-deploy on main push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Bayarmagnai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8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7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400"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E2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a team, we need user feedback from real testers to validate the Digital Twin design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Recruit 8 student testers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Tsogbat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8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4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15-question UX survey (SUS scale + open-ended)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Khuslen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8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4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 moderated testing sessions (45 min each)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Tsogbat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8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4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 feedback &amp; document top-5 improvement priorities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Dulguun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8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modular layers — from raw wearable data to interactive Digital Twin dashboard</a:t>
            </a:r>
            <a:endParaRPr lang="en-US" sz="12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22C192-070D-57B7-60AC-5CD98F6F2A3B}"/>
              </a:ext>
            </a:extLst>
          </p:cNvPr>
          <p:cNvGrpSpPr/>
          <p:nvPr/>
        </p:nvGrpSpPr>
        <p:grpSpPr>
          <a:xfrm>
            <a:off x="411480" y="1005840"/>
            <a:ext cx="8321040" cy="713232"/>
            <a:chOff x="411480" y="1005840"/>
            <a:chExt cx="8321040" cy="713232"/>
          </a:xfrm>
        </p:grpSpPr>
        <p:sp>
          <p:nvSpPr>
            <p:cNvPr id="4" name="Shape 2"/>
            <p:cNvSpPr/>
            <p:nvPr/>
          </p:nvSpPr>
          <p:spPr>
            <a:xfrm>
              <a:off x="411480" y="1005840"/>
              <a:ext cx="8321040" cy="713232"/>
            </a:xfrm>
            <a:prstGeom prst="rect">
              <a:avLst/>
            </a:prstGeom>
            <a:solidFill>
              <a:srgbClr val="0369A1"/>
            </a:solidFill>
            <a:ln w="12700">
              <a:solidFill>
                <a:srgbClr val="0369A1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MN"/>
            </a:p>
          </p:txBody>
        </p:sp>
        <p:sp>
          <p:nvSpPr>
            <p:cNvPr id="5" name="Text 3"/>
            <p:cNvSpPr/>
            <p:nvPr/>
          </p:nvSpPr>
          <p:spPr>
            <a:xfrm>
              <a:off x="502920" y="1042416"/>
              <a:ext cx="50292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5</a:t>
              </a:r>
              <a:endParaRPr lang="en-US" sz="22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1078992" y="1078992"/>
              <a:ext cx="18288" cy="5669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MN"/>
            </a:p>
          </p:txBody>
        </p:sp>
        <p:sp>
          <p:nvSpPr>
            <p:cNvPr id="7" name="Text 5"/>
            <p:cNvSpPr/>
            <p:nvPr/>
          </p:nvSpPr>
          <p:spPr>
            <a:xfrm>
              <a:off x="1170432" y="1042416"/>
              <a:ext cx="21031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Visualization Layer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170432" y="1353312"/>
              <a:ext cx="7406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BFDB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Interactive Streamlit Dashboard  ·  Sleep Hypnogram  ·  What-If Simulations</a:t>
              </a:r>
              <a:endParaRPr lang="en-US" sz="9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B6E97D5-0D43-7878-ECD1-F11A88465F57}"/>
              </a:ext>
            </a:extLst>
          </p:cNvPr>
          <p:cNvGrpSpPr/>
          <p:nvPr/>
        </p:nvGrpSpPr>
        <p:grpSpPr>
          <a:xfrm>
            <a:off x="411480" y="1801368"/>
            <a:ext cx="8321040" cy="713232"/>
            <a:chOff x="411480" y="1801368"/>
            <a:chExt cx="8321040" cy="713232"/>
          </a:xfrm>
        </p:grpSpPr>
        <p:sp>
          <p:nvSpPr>
            <p:cNvPr id="9" name="Shape 7"/>
            <p:cNvSpPr/>
            <p:nvPr/>
          </p:nvSpPr>
          <p:spPr>
            <a:xfrm>
              <a:off x="411480" y="1801368"/>
              <a:ext cx="8321040" cy="713232"/>
            </a:xfrm>
            <a:prstGeom prst="rect">
              <a:avLst/>
            </a:prstGeom>
            <a:solidFill>
              <a:srgbClr val="0891B2"/>
            </a:solidFill>
            <a:ln w="12700">
              <a:solidFill>
                <a:srgbClr val="0891B2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MN"/>
            </a:p>
          </p:txBody>
        </p:sp>
        <p:sp>
          <p:nvSpPr>
            <p:cNvPr id="10" name="Text 8"/>
            <p:cNvSpPr/>
            <p:nvPr/>
          </p:nvSpPr>
          <p:spPr>
            <a:xfrm>
              <a:off x="502920" y="1837944"/>
              <a:ext cx="50292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4</a:t>
              </a:r>
              <a:endParaRPr lang="en-US" sz="22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1078992" y="1874520"/>
              <a:ext cx="18288" cy="5669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MN"/>
            </a:p>
          </p:txBody>
        </p:sp>
        <p:sp>
          <p:nvSpPr>
            <p:cNvPr id="12" name="Text 10"/>
            <p:cNvSpPr/>
            <p:nvPr/>
          </p:nvSpPr>
          <p:spPr>
            <a:xfrm>
              <a:off x="1170432" y="1837944"/>
              <a:ext cx="21031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Digital Twin Layer</a:t>
              </a:r>
              <a:endParaRPr lang="en-US" sz="1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170432" y="2148840"/>
              <a:ext cx="7406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BFDB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Recovery Score  ·  Fatigue Index  ·  Stress Level  ·  Energy  ·  Sleep Quality</a:t>
              </a:r>
              <a:endParaRPr lang="en-US" sz="9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F254552-FB7D-C48A-CEDC-87BAA818C85C}"/>
              </a:ext>
            </a:extLst>
          </p:cNvPr>
          <p:cNvGrpSpPr/>
          <p:nvPr/>
        </p:nvGrpSpPr>
        <p:grpSpPr>
          <a:xfrm>
            <a:off x="411480" y="2596896"/>
            <a:ext cx="8321040" cy="713232"/>
            <a:chOff x="411480" y="2596896"/>
            <a:chExt cx="8321040" cy="713232"/>
          </a:xfrm>
        </p:grpSpPr>
        <p:sp>
          <p:nvSpPr>
            <p:cNvPr id="14" name="Shape 12"/>
            <p:cNvSpPr/>
            <p:nvPr/>
          </p:nvSpPr>
          <p:spPr>
            <a:xfrm>
              <a:off x="411480" y="2596896"/>
              <a:ext cx="8321040" cy="713232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MN"/>
            </a:p>
          </p:txBody>
        </p:sp>
        <p:sp>
          <p:nvSpPr>
            <p:cNvPr id="15" name="Text 13"/>
            <p:cNvSpPr/>
            <p:nvPr/>
          </p:nvSpPr>
          <p:spPr>
            <a:xfrm>
              <a:off x="502920" y="2633472"/>
              <a:ext cx="50292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3</a:t>
              </a:r>
              <a:endParaRPr lang="en-US" sz="22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1078992" y="2670048"/>
              <a:ext cx="18288" cy="5669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MN"/>
            </a:p>
          </p:txBody>
        </p:sp>
        <p:sp>
          <p:nvSpPr>
            <p:cNvPr id="17" name="Text 15"/>
            <p:cNvSpPr/>
            <p:nvPr/>
          </p:nvSpPr>
          <p:spPr>
            <a:xfrm>
              <a:off x="1170432" y="2633472"/>
              <a:ext cx="21031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Machine Learning Layer</a:t>
              </a:r>
              <a:endParaRPr lang="en-US" sz="1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170432" y="2944368"/>
              <a:ext cx="7406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D1FAE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Extra Trees  ·  HistGradientBoosting  ·  XGBoost-CUDA  ·  MLP  ·  Temporal CNN  ·  BiLSTM-Attn</a:t>
              </a:r>
              <a:endParaRPr lang="en-US" sz="9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51156A4-C44B-581A-DA46-F8C0E925FB78}"/>
              </a:ext>
            </a:extLst>
          </p:cNvPr>
          <p:cNvGrpSpPr/>
          <p:nvPr/>
        </p:nvGrpSpPr>
        <p:grpSpPr>
          <a:xfrm>
            <a:off x="411480" y="3392424"/>
            <a:ext cx="8321040" cy="713232"/>
            <a:chOff x="411480" y="3392424"/>
            <a:chExt cx="8321040" cy="713232"/>
          </a:xfrm>
        </p:grpSpPr>
        <p:sp>
          <p:nvSpPr>
            <p:cNvPr id="19" name="Shape 17"/>
            <p:cNvSpPr/>
            <p:nvPr/>
          </p:nvSpPr>
          <p:spPr>
            <a:xfrm>
              <a:off x="411480" y="3392424"/>
              <a:ext cx="8321040" cy="713232"/>
            </a:xfrm>
            <a:prstGeom prst="rect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MN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502920" y="3429000"/>
              <a:ext cx="50292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2</a:t>
              </a:r>
              <a:endParaRPr lang="en-US" sz="22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1078992" y="3465576"/>
              <a:ext cx="18288" cy="5669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MN"/>
            </a:p>
          </p:txBody>
        </p:sp>
        <p:sp>
          <p:nvSpPr>
            <p:cNvPr id="22" name="Text 20"/>
            <p:cNvSpPr/>
            <p:nvPr/>
          </p:nvSpPr>
          <p:spPr>
            <a:xfrm>
              <a:off x="1170432" y="3429000"/>
              <a:ext cx="21031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Data Processing Layer</a:t>
              </a:r>
              <a:endParaRPr lang="en-US" sz="12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170432" y="3739896"/>
              <a:ext cx="7406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D1FAE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Epoch Alignment (30 s)  ·  HR Filtering  ·  318 Feature Engineering  ·  NPZ Caching</a:t>
              </a:r>
              <a:endParaRPr lang="en-US" sz="9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B27CBCD-6464-CA32-168A-3BE1998F2615}"/>
              </a:ext>
            </a:extLst>
          </p:cNvPr>
          <p:cNvGrpSpPr/>
          <p:nvPr/>
        </p:nvGrpSpPr>
        <p:grpSpPr>
          <a:xfrm>
            <a:off x="411480" y="4174889"/>
            <a:ext cx="8321040" cy="713232"/>
            <a:chOff x="411480" y="4187952"/>
            <a:chExt cx="8321040" cy="713232"/>
          </a:xfrm>
        </p:grpSpPr>
        <p:sp>
          <p:nvSpPr>
            <p:cNvPr id="24" name="Shape 22"/>
            <p:cNvSpPr/>
            <p:nvPr/>
          </p:nvSpPr>
          <p:spPr>
            <a:xfrm>
              <a:off x="411480" y="4187952"/>
              <a:ext cx="8321040" cy="713232"/>
            </a:xfrm>
            <a:prstGeom prst="rect">
              <a:avLst/>
            </a:prstGeom>
            <a:solidFill>
              <a:srgbClr val="65A30D"/>
            </a:solidFill>
            <a:ln w="12700">
              <a:solidFill>
                <a:srgbClr val="65A30D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MN"/>
            </a:p>
          </p:txBody>
        </p:sp>
        <p:sp>
          <p:nvSpPr>
            <p:cNvPr id="25" name="Text 23"/>
            <p:cNvSpPr/>
            <p:nvPr/>
          </p:nvSpPr>
          <p:spPr>
            <a:xfrm>
              <a:off x="502920" y="4224528"/>
              <a:ext cx="50292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1</a:t>
              </a:r>
              <a:endParaRPr lang="en-US" sz="22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1078992" y="4261104"/>
              <a:ext cx="18288" cy="5669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MN"/>
            </a:p>
          </p:txBody>
        </p:sp>
        <p:sp>
          <p:nvSpPr>
            <p:cNvPr id="27" name="Text 25"/>
            <p:cNvSpPr/>
            <p:nvPr/>
          </p:nvSpPr>
          <p:spPr>
            <a:xfrm>
              <a:off x="1170432" y="4224528"/>
              <a:ext cx="21031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Data Source Layer</a:t>
              </a:r>
              <a:endParaRPr lang="en-US" sz="12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1170432" y="4535424"/>
              <a:ext cx="7406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D1FAE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Wrist-Worn Wearable: Triaxial Acceleration  ·  Heart Rate (BPM)  ·  Step Count  ·  PSG Labels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Performance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Subject-level evaluation — 7 held-out test subjects unseen during training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5212080" cy="293522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Acc.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Trees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HistGradientBoosting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+ CUDA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E2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E2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BiLSTM + Attention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E2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5852160" y="914400"/>
          <a:ext cx="29260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Twin — Virtual Human State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sleep predictions into interpretable health metrics &amp; what-if simulations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1605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 Score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40817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sleep stage ratios, NREM-to-Wake balance, and total sleep duration. Higher NREM → higher recovery.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121408"/>
            <a:ext cx="4160520" cy="96012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8" name="Text 6"/>
          <p:cNvSpPr/>
          <p:nvPr/>
        </p:nvSpPr>
        <p:spPr>
          <a:xfrm>
            <a:off x="566928" y="219456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Fatigue Score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50545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wake episode frequency, REM deficit, and circadian misalignment. Penalizes fragmented sleep.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218688"/>
            <a:ext cx="4160520" cy="9601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11" name="Text 9"/>
          <p:cNvSpPr/>
          <p:nvPr/>
        </p:nvSpPr>
        <p:spPr>
          <a:xfrm>
            <a:off x="566928" y="32918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Stress Index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360273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heart-rate deviation during sleep with wake-epoch clusters. Elevated HR = higher stress index.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00600" y="1024128"/>
            <a:ext cx="4160520" cy="9601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14" name="Text 12"/>
          <p:cNvSpPr/>
          <p:nvPr/>
        </p:nvSpPr>
        <p:spPr>
          <a:xfrm>
            <a:off x="4910328" y="10972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Level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0328" y="140817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recovery score with step-history activity patterns. Links prior-day exertion to predicted rest quality.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00600" y="2121408"/>
            <a:ext cx="4160520" cy="9601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17" name="Text 15"/>
          <p:cNvSpPr/>
          <p:nvPr/>
        </p:nvSpPr>
        <p:spPr>
          <a:xfrm>
            <a:off x="4910328" y="219456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Sleep Quality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10328" y="250545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metric (weighted sum of all above) yielding a 0–100 score for overall sleep session assessment.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3218688"/>
            <a:ext cx="4160520" cy="96012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20" name="Text 18"/>
          <p:cNvSpPr/>
          <p:nvPr/>
        </p:nvSpPr>
        <p:spPr>
          <a:xfrm>
            <a:off x="4910328" y="32918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What-If Simulation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0328" y="360273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the effect of reducing sleep by 1–3 h or increasing training load. Dashboard updates all five state variables in real time.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D3A5A"/>
          </a:solidFill>
          <a:ln w="12700">
            <a:solidFill>
              <a:srgbClr val="0D3A5A"/>
            </a:solidFill>
            <a:prstDash val="solid"/>
          </a:ln>
        </p:spPr>
        <p:txBody>
          <a:bodyPr/>
          <a:lstStyle/>
          <a:p>
            <a:endParaRPr lang="en-MN"/>
          </a:p>
        </p:txBody>
      </p:sp>
      <p:sp>
        <p:nvSpPr>
          <p:cNvPr id="3" name="Shape 1"/>
          <p:cNvSpPr/>
          <p:nvPr/>
        </p:nvSpPr>
        <p:spPr>
          <a:xfrm>
            <a:off x="-671063" y="3118104"/>
            <a:ext cx="2743200" cy="2743200"/>
          </a:xfrm>
          <a:prstGeom prst="ellipse">
            <a:avLst/>
          </a:prstGeom>
          <a:solidFill>
            <a:srgbClr val="0A2D48"/>
          </a:solidFill>
          <a:ln w="12700">
            <a:solidFill>
              <a:srgbClr val="0A2D48"/>
            </a:solidFill>
            <a:prstDash val="solid"/>
          </a:ln>
        </p:spPr>
        <p:txBody>
          <a:bodyPr/>
          <a:lstStyle/>
          <a:p>
            <a:endParaRPr lang="en-MN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Summary &amp; Key Achievements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1155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All 27 Tasks Delivered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35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sprints out of 5 sprints, 8 user stories, 100% Done status across the first 4 sprint and 69% Done status across the full product backlog.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299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Best Model: XGBoost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500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76.46% accuracy, 0.6659 balanced accuracy, 0.6678 macro F1 on held-out subjects.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9443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Digital Twin Implemented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644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interpretable health state variables driven by ML predictions, with what-if simulation.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8587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Interactive Dashboard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1788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Streamlit UI with hypnogram, metric cards, and real-time simulation controls.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002D3D-EA87-CDA7-A7BB-4AC08DE77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4B1FCC9-A917-FC31-D649-EE0259656CA6}"/>
              </a:ext>
            </a:extLst>
          </p:cNvPr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D3A5A"/>
          </a:solidFill>
          <a:ln w="12700">
            <a:solidFill>
              <a:srgbClr val="0D3A5A"/>
            </a:solidFill>
            <a:prstDash val="solid"/>
          </a:ln>
        </p:spPr>
        <p:txBody>
          <a:bodyPr/>
          <a:lstStyle/>
          <a:p>
            <a:endParaRPr lang="en-M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1024AD4-DD2B-0D0D-015D-70DDF0E01B32}"/>
              </a:ext>
            </a:extLst>
          </p:cNvPr>
          <p:cNvSpPr/>
          <p:nvPr/>
        </p:nvSpPr>
        <p:spPr>
          <a:xfrm>
            <a:off x="-671063" y="3118104"/>
            <a:ext cx="2743200" cy="2743200"/>
          </a:xfrm>
          <a:prstGeom prst="ellipse">
            <a:avLst/>
          </a:prstGeom>
          <a:solidFill>
            <a:srgbClr val="0A2D48"/>
          </a:solidFill>
          <a:ln w="12700">
            <a:solidFill>
              <a:srgbClr val="0A2D48"/>
            </a:solidFill>
            <a:prstDash val="solid"/>
          </a:ln>
        </p:spPr>
        <p:txBody>
          <a:bodyPr/>
          <a:lstStyle/>
          <a:p>
            <a:endParaRPr lang="en-M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00957E0-3DCF-D98A-DA13-38F804D8E42B}"/>
              </a:ext>
            </a:extLst>
          </p:cNvPr>
          <p:cNvSpPr/>
          <p:nvPr/>
        </p:nvSpPr>
        <p:spPr>
          <a:xfrm>
            <a:off x="731520" y="138531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for paying attention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0EC8C69-FA43-4E6E-CBA7-A6AB4A4E385E}"/>
              </a:ext>
            </a:extLst>
          </p:cNvPr>
          <p:cNvSpPr/>
          <p:nvPr/>
        </p:nvSpPr>
        <p:spPr>
          <a:xfrm>
            <a:off x="640080" y="11155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212D7B-FA23-58EE-7742-947D7B9F2E13}"/>
              </a:ext>
            </a:extLst>
          </p:cNvPr>
          <p:cNvSpPr/>
          <p:nvPr/>
        </p:nvSpPr>
        <p:spPr>
          <a:xfrm>
            <a:off x="640080" y="1435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74195B0-E857-C001-E9D6-24D090B1B26C}"/>
              </a:ext>
            </a:extLst>
          </p:cNvPr>
          <p:cNvSpPr/>
          <p:nvPr/>
        </p:nvSpPr>
        <p:spPr>
          <a:xfrm>
            <a:off x="640080" y="20299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5DD6B7D-0F4F-F9A0-0A6C-A595066F8A7B}"/>
              </a:ext>
            </a:extLst>
          </p:cNvPr>
          <p:cNvSpPr/>
          <p:nvPr/>
        </p:nvSpPr>
        <p:spPr>
          <a:xfrm>
            <a:off x="640080" y="23500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46C4D61-5DB3-9947-69C6-34118B987F5D}"/>
              </a:ext>
            </a:extLst>
          </p:cNvPr>
          <p:cNvSpPr/>
          <p:nvPr/>
        </p:nvSpPr>
        <p:spPr>
          <a:xfrm>
            <a:off x="640080" y="29443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666CA75-F634-84BE-35F7-03EA6F782CF7}"/>
              </a:ext>
            </a:extLst>
          </p:cNvPr>
          <p:cNvSpPr/>
          <p:nvPr/>
        </p:nvSpPr>
        <p:spPr>
          <a:xfrm>
            <a:off x="640080" y="32644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89C1FB8-FC05-1C22-93A3-8DBCABEF16FA}"/>
              </a:ext>
            </a:extLst>
          </p:cNvPr>
          <p:cNvSpPr/>
          <p:nvPr/>
        </p:nvSpPr>
        <p:spPr>
          <a:xfrm>
            <a:off x="640080" y="38587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CC85B36-037B-D0B3-D95B-D93AB72F18C1}"/>
              </a:ext>
            </a:extLst>
          </p:cNvPr>
          <p:cNvSpPr/>
          <p:nvPr/>
        </p:nvSpPr>
        <p:spPr>
          <a:xfrm>
            <a:off x="640080" y="41788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1C6CCAA-554C-EBB2-381E-6DFF6B036E34}"/>
              </a:ext>
            </a:extLst>
          </p:cNvPr>
          <p:cNvSpPr/>
          <p:nvPr/>
        </p:nvSpPr>
        <p:spPr>
          <a:xfrm>
            <a:off x="640080" y="4663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5CAFCD-81CC-D65F-58FB-949C5ECF1559}"/>
              </a:ext>
            </a:extLst>
          </p:cNvPr>
          <p:cNvSpPr txBox="1"/>
          <p:nvPr/>
        </p:nvSpPr>
        <p:spPr>
          <a:xfrm>
            <a:off x="1724891" y="1920240"/>
            <a:ext cx="56942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Any questions?</a:t>
            </a:r>
            <a:endParaRPr lang="en-US" sz="14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351E400E-B005-0FD8-0197-51EA7BF62FFB}"/>
              </a:ext>
            </a:extLst>
          </p:cNvPr>
          <p:cNvSpPr/>
          <p:nvPr/>
        </p:nvSpPr>
        <p:spPr>
          <a:xfrm>
            <a:off x="640080" y="2834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IoT Midterm Project   |   April 2026</a:t>
            </a:r>
            <a:endParaRPr lang="en-US" sz="12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D6B12ED0-A01A-66D0-A0F9-F412C38FA3A4}"/>
              </a:ext>
            </a:extLst>
          </p:cNvPr>
          <p:cNvSpPr/>
          <p:nvPr/>
        </p:nvSpPr>
        <p:spPr>
          <a:xfrm>
            <a:off x="640080" y="32004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Tsogbat  ·  Khuslen  ·  Dulguun  ·  Bayarmagnai</a:t>
            </a:r>
            <a:endParaRPr lang="en-US" sz="12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F6FC0153-6450-ED17-9B1B-BF073F10A2A2}"/>
              </a:ext>
            </a:extLst>
          </p:cNvPr>
          <p:cNvSpPr/>
          <p:nvPr/>
        </p:nvSpPr>
        <p:spPr>
          <a:xfrm>
            <a:off x="640080" y="35478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陳興忠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71539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2244</Words>
  <Application>Microsoft Macintosh PowerPoint</Application>
  <PresentationFormat>On-screen Show (16:9)</PresentationFormat>
  <Paragraphs>587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Twin Smart System - Sprint Presentation</dc:title>
  <dc:subject>PptxGenJS Presentation</dc:subject>
  <dc:creator>PptxGenJS</dc:creator>
  <cp:lastModifiedBy>Bat-Erdene Tsogbat</cp:lastModifiedBy>
  <cp:revision>6</cp:revision>
  <dcterms:created xsi:type="dcterms:W3CDTF">2026-05-03T13:57:44Z</dcterms:created>
  <dcterms:modified xsi:type="dcterms:W3CDTF">2026-05-03T15:22:17Z</dcterms:modified>
</cp:coreProperties>
</file>