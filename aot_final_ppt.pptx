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22E8E-7A09-3345-80CA-6669F0C65B9A}" type="datetimeFigureOut">
              <a:rPr lang="en-MN" smtClean="0"/>
              <a:t>2026.06.07</a:t>
            </a:fld>
            <a:endParaRPr lang="e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A5B-DACF-0843-9BD8-83C9BF854F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86072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27A5B-DACF-0843-9BD8-83C9BF854F3C}" type="slidenum">
              <a:rPr lang="en-MN" smtClean="0"/>
              <a:t>2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824436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5E0C8"/>
                </a:solidFill>
                <a:latin typeface="Segoe UI"/>
              </a:rPr>
              <a:t>WEARABLE-DATA DIGITAL TWIN  ·  SLEEP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ECEFF7"/>
                </a:solidFill>
                <a:latin typeface="Segoe UI"/>
              </a:rPr>
              <a:t>Sleep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9AA4C0"/>
                </a:solidFill>
                <a:latin typeface="Segoe UI"/>
              </a:rPr>
              <a:t>Classifying Wake / NREM / REM from wrist sensors, then turning the sleep timeline into a transparent virtual human-state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2514600" cy="1143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73152" cy="114300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73659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5E0C8"/>
                </a:solidFill>
                <a:latin typeface="Segoe UI"/>
              </a:rPr>
              <a:t>80.35%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218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572000"/>
            <a:ext cx="2514600" cy="1143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4572000"/>
            <a:ext cx="73152" cy="114300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473659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9B6CFF"/>
                </a:solidFill>
                <a:latin typeface="Segoe UI"/>
              </a:rPr>
              <a:t>0.6993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3218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Macro F1 (best)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2514600" cy="1143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4572000"/>
            <a:ext cx="73152" cy="114300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473659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4D9BFF"/>
                </a:solidFill>
                <a:latin typeface="Segoe UI"/>
              </a:rPr>
              <a:t>540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218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Features / epoch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572000"/>
            <a:ext cx="2514600" cy="1143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4572000"/>
            <a:ext cx="73152" cy="114300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473659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B34D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3218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Human-state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Final Project Report  ·  Walch et al. PSG dataset + Apple Health  ·  FastAPI single-page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8646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B6CFF"/>
                </a:solidFill>
                <a:latin typeface="Segoe UI"/>
              </a:rPr>
              <a:t>00  · 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Group members &amp; SCRUM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4C0"/>
                </a:solidFill>
                <a:latin typeface="Segoe UI"/>
              </a:rPr>
              <a:t>AIoT Final Project  ·  Digital Twin-Based Smart System Development  ·  Class 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5285232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920240"/>
            <a:ext cx="91440" cy="182880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33272" y="23774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76272" y="2304288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FF7"/>
                </a:solidFill>
                <a:latin typeface="Segoe UI"/>
              </a:rPr>
              <a:t>Tsogbat Baterdene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2761488"/>
            <a:ext cx="35478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dirty="0">
                <a:solidFill>
                  <a:srgbClr val="9AA4C0"/>
                </a:solidFill>
                <a:latin typeface="Segoe UI"/>
              </a:rPr>
              <a:t>Student </a:t>
            </a:r>
            <a:r>
              <a:rPr sz="1300" b="0" dirty="0">
                <a:solidFill>
                  <a:srgbClr val="9AA4C0"/>
                </a:solidFill>
                <a:latin typeface="Segoe UI"/>
              </a:rPr>
              <a:t>ID</a:t>
            </a:r>
            <a:r>
              <a:rPr lang="en-US" sz="1300" b="0" dirty="0">
                <a:solidFill>
                  <a:srgbClr val="9AA4C0"/>
                </a:solidFill>
                <a:latin typeface="Segoe UI"/>
              </a:rPr>
              <a:t>  </a:t>
            </a:r>
            <a:r>
              <a:rPr sz="1300" b="0" dirty="0">
                <a:solidFill>
                  <a:srgbClr val="9AA4C0"/>
                </a:solidFill>
                <a:latin typeface="Segoe UI"/>
              </a:rPr>
              <a:t>113021197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3127248"/>
            <a:ext cx="2194560" cy="310896"/>
          </a:xfrm>
          <a:prstGeom prst="round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3174974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B0E1A"/>
                </a:solidFill>
                <a:latin typeface="Segoe UI"/>
              </a:rPr>
              <a:t>Product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20240"/>
            <a:ext cx="5285232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920240"/>
            <a:ext cx="91440" cy="182880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01384" y="23774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4384" y="2304288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FF7"/>
                </a:solidFill>
                <a:latin typeface="Segoe UI"/>
              </a:rPr>
              <a:t>Khuslen Gantumur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2761488"/>
            <a:ext cx="35478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9AA4C0"/>
                </a:solidFill>
                <a:latin typeface="Segoe UI"/>
              </a:rPr>
              <a:t>Student I</a:t>
            </a:r>
            <a:r>
              <a:rPr sz="1300" b="0" dirty="0">
                <a:solidFill>
                  <a:srgbClr val="9AA4C0"/>
                </a:solidFill>
                <a:latin typeface="Segoe UI"/>
              </a:rPr>
              <a:t>D  113021189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4" y="3127248"/>
            <a:ext cx="2194560" cy="310896"/>
          </a:xfrm>
          <a:prstGeom prst="round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4" y="3174974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B0E1A"/>
                </a:solidFill>
                <a:latin typeface="Segoe UI"/>
              </a:rPr>
              <a:t>Scrum Master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931920"/>
            <a:ext cx="5285232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" y="3931920"/>
            <a:ext cx="91440" cy="182880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33272" y="43891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76272" y="4315968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FF7"/>
                </a:solidFill>
                <a:latin typeface="Segoe UI"/>
              </a:rPr>
              <a:t>Dulguun Munkhtur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773168"/>
            <a:ext cx="35478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9AA4C0"/>
                </a:solidFill>
                <a:latin typeface="Segoe UI"/>
              </a:rPr>
              <a:t>Student </a:t>
            </a:r>
            <a:r>
              <a:rPr sz="1300" b="0" dirty="0">
                <a:solidFill>
                  <a:srgbClr val="9AA4C0"/>
                </a:solidFill>
                <a:latin typeface="Segoe UI"/>
              </a:rPr>
              <a:t>ID  114021153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5138928"/>
            <a:ext cx="2194560" cy="310896"/>
          </a:xfrm>
          <a:prstGeom prst="round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76272" y="5186654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B0E1A"/>
                </a:solidFill>
                <a:latin typeface="Segoe UI"/>
              </a:rPr>
              <a:t>Developer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931920"/>
            <a:ext cx="5285232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81344" y="3931920"/>
            <a:ext cx="91440" cy="182880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501384" y="43891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43891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B0E1A"/>
                </a:solidFill>
                <a:latin typeface="Segoe UI"/>
              </a:rPr>
              <a:t>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4315968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FF7"/>
                </a:solidFill>
                <a:latin typeface="Segoe UI"/>
              </a:rPr>
              <a:t>Bayarmagnai Munkhbat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4384" y="4773168"/>
            <a:ext cx="35478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9AA4C0"/>
                </a:solidFill>
                <a:latin typeface="Segoe UI"/>
              </a:rPr>
              <a:t>Student </a:t>
            </a:r>
            <a:r>
              <a:rPr sz="1300" b="0" dirty="0">
                <a:solidFill>
                  <a:srgbClr val="9AA4C0"/>
                </a:solidFill>
                <a:latin typeface="Segoe UI"/>
              </a:rPr>
              <a:t>ID  113021195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44384" y="5138928"/>
            <a:ext cx="2194560" cy="310896"/>
          </a:xfrm>
          <a:prstGeom prst="round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384" y="5186654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B0E1A"/>
                </a:solidFill>
                <a:latin typeface="Segoe UI"/>
              </a:rPr>
              <a:t>Developer</a:t>
            </a:r>
          </a:p>
        </p:txBody>
      </p:sp>
      <p:pic>
        <p:nvPicPr>
          <p:cNvPr id="40" name="Picture 39" descr="A person wearing a hat and sunglasses&#10;&#10;AI-generated content may be incorrect.">
            <a:extLst>
              <a:ext uri="{FF2B5EF4-FFF2-40B4-BE49-F238E27FC236}">
                <a16:creationId xmlns:a16="http://schemas.microsoft.com/office/drawing/2014/main" id="{AA90EE08-538C-3DE5-83D2-3BBCA290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05" y="2340863"/>
            <a:ext cx="980695" cy="9875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1700D3A-6D4A-AD21-9086-51F1CBAD8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9389" y="2377440"/>
            <a:ext cx="980695" cy="9875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2" name="Picture 41" descr="A person wearing sunglasses and a hat and black jacket&#10;&#10;AI-generated content may be incorrect.">
            <a:extLst>
              <a:ext uri="{FF2B5EF4-FFF2-40B4-BE49-F238E27FC236}">
                <a16:creationId xmlns:a16="http://schemas.microsoft.com/office/drawing/2014/main" id="{81168EDB-53D8-20FA-CBF4-2FAC28BAC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759" y="4352543"/>
            <a:ext cx="983425" cy="9875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0933998-7719-0347-4185-76C10A4C4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8236" y="4352542"/>
            <a:ext cx="980695" cy="9875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3671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01  ·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dirty="0">
                <a:solidFill>
                  <a:srgbClr val="ECEFF7"/>
                </a:solidFill>
                <a:latin typeface="Segoe UI"/>
              </a:rPr>
              <a:t>What Sleep Twin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5852160" cy="39775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Goal. </a:t>
            </a:r>
            <a:r>
              <a:rPr dirty="0">
                <a:solidFill>
                  <a:srgbClr val="9AA4C0"/>
                </a:solidFill>
                <a:latin typeface="Segoe UI"/>
              </a:rPr>
              <a:t>Classify each 30-s epoch of wrist data into Wake / NREM / REM, then convert that timeline into a virtual human-state.</a:t>
            </a:r>
            <a:endParaRPr lang="en-US" dirty="0">
              <a:solidFill>
                <a:srgbClr val="9AA4C0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Pipeline. </a:t>
            </a:r>
            <a:r>
              <a:rPr dirty="0">
                <a:solidFill>
                  <a:srgbClr val="9AA4C0"/>
                </a:solidFill>
                <a:latin typeface="Segoe UI"/>
              </a:rPr>
              <a:t>Raw accelerometer + wrist HR + steps → 540 engineered features → 5 base learners → geometric-mean ensemble → HMM/Viterbi smoothing.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Scoring layer. </a:t>
            </a:r>
            <a:r>
              <a:rPr dirty="0">
                <a:solidFill>
                  <a:srgbClr val="9AA4C0"/>
                </a:solidFill>
                <a:latin typeface="Segoe UI"/>
              </a:rPr>
              <a:t>Six interpretable scores, each a weighted sum of named, literature-grounded components surfaced in the UI.</a:t>
            </a:r>
            <a:endParaRPr lang="en-US" dirty="0">
              <a:solidFill>
                <a:srgbClr val="9AA4C0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Two data sources. </a:t>
            </a:r>
            <a:r>
              <a:rPr dirty="0">
                <a:solidFill>
                  <a:srgbClr val="9AA4C0"/>
                </a:solidFill>
                <a:latin typeface="Segoe UI"/>
              </a:rPr>
              <a:t>Walch PSG research dataset and personal Apple Health exports through one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617720" cy="214884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069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35E0C8"/>
                </a:solidFill>
                <a:latin typeface="Segoe UI"/>
              </a:rPr>
              <a:t>Headline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069080" cy="1592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80.35% accuracy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+ </a:t>
            </a:r>
            <a:r>
              <a:rPr sz="1400" dirty="0" err="1">
                <a:solidFill>
                  <a:srgbClr val="9AA4C0"/>
                </a:solidFill>
                <a:latin typeface="Segoe UI"/>
              </a:rPr>
              <a:t>κ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 0.5695  (geo-mean + HMM)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0.7159 balanced acc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+ 0.6993 macro F1 (</a:t>
            </a:r>
            <a:r>
              <a:rPr sz="1400" dirty="0" err="1">
                <a:solidFill>
                  <a:srgbClr val="9AA4C0"/>
                </a:solidFill>
                <a:latin typeface="Segoe UI"/>
              </a:rPr>
              <a:t>CatBoost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 + HMM)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Beats the demo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best single model (76.46%, </a:t>
            </a:r>
            <a:r>
              <a:rPr sz="1400" dirty="0" err="1">
                <a:solidFill>
                  <a:srgbClr val="9AA4C0"/>
                </a:solidFill>
                <a:latin typeface="Segoe UI"/>
              </a:rPr>
              <a:t>κ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 0.5050)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977639"/>
            <a:ext cx="4617720" cy="219456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160520"/>
            <a:ext cx="4069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9B6CFF"/>
                </a:solidFill>
                <a:latin typeface="Segoe UI"/>
              </a:rPr>
              <a:t>Six human-state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617720"/>
            <a:ext cx="1965960" cy="310896"/>
          </a:xfrm>
          <a:prstGeom prst="round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461772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4617720"/>
            <a:ext cx="1965960" cy="310896"/>
          </a:xfrm>
          <a:prstGeom prst="round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461772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Sleep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120640"/>
            <a:ext cx="1965960" cy="310896"/>
          </a:xfrm>
          <a:prstGeom prst="roundRect">
            <a:avLst/>
          </a:prstGeom>
          <a:solidFill>
            <a:srgbClr val="FF4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512064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Stress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5120640"/>
            <a:ext cx="1965960" cy="310896"/>
          </a:xfrm>
          <a:prstGeom prst="round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512064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Fatigue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623560"/>
            <a:ext cx="1965960" cy="310896"/>
          </a:xfrm>
          <a:prstGeom prst="round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562356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Energy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5623560"/>
            <a:ext cx="1965960" cy="310896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562356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A"/>
                </a:solidFill>
                <a:latin typeface="Segoe UI"/>
              </a:rPr>
              <a:t>Sleep debt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3671" cy="813816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B6CFF"/>
                </a:solidFill>
                <a:latin typeface="Segoe UI"/>
              </a:rPr>
              <a:t>02  ·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Why a Digital Twin for sleep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3493008" cy="29260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3493008" cy="9144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9077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Dense, hard-to-read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907792" cy="1385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9AA4C0"/>
                </a:solidFill>
                <a:latin typeface="Segoe UI"/>
              </a:rPr>
              <a:t>Wearables produce longitudinal sensor streams that are difficult to interpret in raw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920240"/>
            <a:ext cx="3493008" cy="29260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19" y="1920240"/>
            <a:ext cx="3493008" cy="9144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7" y="2240280"/>
            <a:ext cx="2907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Sleep drives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850086"/>
            <a:ext cx="2907792" cy="1739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9AA4C0"/>
                </a:solidFill>
                <a:latin typeface="Segoe UI"/>
              </a:rPr>
              <a:t>Sleep quality strongly affects recovery, fatigue, cognition and health — automated staging has clear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6" y="1920240"/>
            <a:ext cx="3493008" cy="29260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6" y="1920240"/>
            <a:ext cx="3493008" cy="91440"/>
          </a:xfrm>
          <a:prstGeom prst="rect">
            <a:avLst/>
          </a:prstGeom>
          <a:solidFill>
            <a:srgbClr val="FF4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4" y="2240280"/>
            <a:ext cx="29077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Most trackers are black boxes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4" y="3154680"/>
            <a:ext cx="2907792" cy="1739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9AA4C0"/>
                </a:solidFill>
                <a:latin typeface="Segoe UI"/>
              </a:rPr>
              <a:t>Consumer systems rely on closed proprietary algorithms — not reproducible for learning or research.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20640"/>
            <a:ext cx="10698480" cy="107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9B6CFF"/>
                </a:solidFill>
                <a:latin typeface="Segoe UI"/>
              </a:rPr>
              <a:t>The approach. </a:t>
            </a:r>
            <a:r>
              <a:rPr sz="2000" b="0" dirty="0">
                <a:solidFill>
                  <a:srgbClr val="ECEFF7"/>
                </a:solidFill>
                <a:latin typeface="Segoe UI"/>
              </a:rPr>
              <a:t>Treat the user as the physical system and build a virtual human-state model on top of sleep-stage predictions — going beyond a standalone classifier into a compact Digital Twin that exposes its reasoning at every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083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4639" cy="813816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D9BFF"/>
                </a:solidFill>
                <a:latin typeface="Segoe UI"/>
              </a:rPr>
              <a:t>03  · 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Three-class sleep-stage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5760720" cy="343433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Target. </a:t>
            </a:r>
            <a:r>
              <a:rPr dirty="0">
                <a:solidFill>
                  <a:srgbClr val="9AA4C0"/>
                </a:solidFill>
                <a:latin typeface="Segoe UI"/>
              </a:rPr>
              <a:t>Each 30-second epoch → Wake, NREM, or REM.</a:t>
            </a:r>
            <a:endParaRPr lang="en-US" dirty="0">
              <a:solidFill>
                <a:srgbClr val="9AA4C0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Label mapping. </a:t>
            </a:r>
            <a:r>
              <a:rPr dirty="0">
                <a:solidFill>
                  <a:srgbClr val="9AA4C0"/>
                </a:solidFill>
                <a:latin typeface="Segoe UI"/>
              </a:rPr>
              <a:t>PSG 0 → Wake; 1–4 → NREM; 5 → REM.</a:t>
            </a:r>
            <a:endParaRPr lang="en-US" dirty="0">
              <a:solidFill>
                <a:srgbClr val="9AA4C0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Why 3 classes, not 5. </a:t>
            </a:r>
            <a:r>
              <a:rPr dirty="0">
                <a:solidFill>
                  <a:srgbClr val="9AA4C0"/>
                </a:solidFill>
                <a:latin typeface="Segoe UI"/>
              </a:rPr>
              <a:t>Wrist data lacks the signal to reliably split N1/N2/N3 — 3 classes are stable to learn and rich enough for the twin layer.</a:t>
            </a:r>
            <a:endParaRPr lang="en-US" dirty="0">
              <a:solidFill>
                <a:srgbClr val="9AA4C0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Why balanced metrics. </a:t>
            </a:r>
            <a:r>
              <a:rPr dirty="0">
                <a:solidFill>
                  <a:srgbClr val="9AA4C0"/>
                </a:solidFill>
                <a:latin typeface="Segoe UI"/>
              </a:rPr>
              <a:t>NREM dominates ~7×, so macro F1 and balanced accuracy matter more than raw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4709160" cy="420624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9168" y="1874519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4D9BFF"/>
                </a:solidFill>
                <a:latin typeface="Segoe UI"/>
              </a:rPr>
              <a:t>Class distribution · 26,773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4688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FF7"/>
                </a:solidFill>
                <a:latin typeface="Segoe UI"/>
              </a:rPr>
              <a:t>NREM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514600"/>
            <a:ext cx="2743200" cy="384048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24688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9AA4C0"/>
                </a:solidFill>
                <a:latin typeface="Segoe UI"/>
              </a:rPr>
              <a:t>18,460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3337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FF7"/>
                </a:solidFill>
                <a:latin typeface="Segoe UI"/>
              </a:rPr>
              <a:t>REM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383280"/>
            <a:ext cx="874376" cy="384048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2536" y="33375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4C0"/>
                </a:solidFill>
                <a:latin typeface="Segoe UI"/>
              </a:rPr>
              <a:t>5,884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42062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FF7"/>
                </a:solidFill>
                <a:latin typeface="Segoe UI"/>
              </a:rPr>
              <a:t>Wake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251960"/>
            <a:ext cx="360955" cy="3840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99115" y="420624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4C0"/>
                </a:solidFill>
                <a:latin typeface="Segoe UI"/>
              </a:rPr>
              <a:t>2,429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5212080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9AA4C0"/>
                </a:solidFill>
                <a:latin typeface="Segoe UI"/>
              </a:rPr>
              <a:t>31 subjects · one night each · 540 features per epoch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5149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04  ·  DATA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Dataset and the single biggest lever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200400" cy="8686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801368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35E0C8"/>
                </a:solidFill>
                <a:latin typeface="Segoe UI"/>
              </a:rPr>
              <a:t>26,773</a:t>
            </a:r>
            <a:endParaRPr sz="2400" b="1" dirty="0">
              <a:solidFill>
                <a:srgbClr val="35E0C8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" y="22219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9AA4C0"/>
                </a:solidFill>
                <a:latin typeface="Segoe UI"/>
              </a:rPr>
              <a:t>labelled 30-s epochs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97480"/>
            <a:ext cx="3200400" cy="8686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35E0C8"/>
                </a:solidFill>
                <a:latin typeface="Segoe UI"/>
              </a:rPr>
              <a:t>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2783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features / epoch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703320"/>
            <a:ext cx="3200400" cy="8686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3813048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35E0C8"/>
                </a:solidFill>
                <a:latin typeface="Segoe U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336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subjects (1 night each)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846320"/>
            <a:ext cx="3291840" cy="72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Walch et al. wrist-wearable + PSG dataset (PhysioNet): triaxial accelerometer, wrist HR, step counts, PSG stage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91640"/>
            <a:ext cx="7178040" cy="4206240"/>
          </a:xfrm>
          <a:prstGeom prst="roundRect">
            <a:avLst/>
          </a:prstGeom>
          <a:solidFill>
            <a:srgbClr val="121628"/>
          </a:solidFill>
          <a:ln w="19050">
            <a:solidFill>
              <a:srgbClr val="35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286" y="1691640"/>
            <a:ext cx="109834" cy="420624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920240"/>
            <a:ext cx="6446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Robust per-subject normalization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23160"/>
            <a:ext cx="6446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35E0C8"/>
                </a:solidFill>
                <a:latin typeface="Segoe UI"/>
              </a:rPr>
              <a:t>the largest single classifier improvement over the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971800"/>
            <a:ext cx="6446520" cy="2519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ECEFF7"/>
                </a:solidFill>
                <a:latin typeface="Segoe UI"/>
              </a:rPr>
              <a:t>Subtract each subject's median HR, divide by their IQR; same scheme on the ENMO motion stream.</a:t>
            </a:r>
            <a:endParaRPr lang="en-US" sz="1600" dirty="0">
              <a:solidFill>
                <a:srgbClr val="ECEFF7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ECEFF7"/>
                </a:solidFill>
                <a:latin typeface="Segoe UI"/>
              </a:rPr>
              <a:t>Baseline HR varies enormously — a 50 bpm sleep HR for one person is 80 bpm for another.</a:t>
            </a:r>
            <a:endParaRPr lang="en-US" sz="1600" dirty="0">
              <a:solidFill>
                <a:srgbClr val="ECEFF7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ECEFF7"/>
                </a:solidFill>
                <a:latin typeface="Segoe UI"/>
              </a:rPr>
              <a:t>Z-scoring against each subject's own distribution makes the signal portable across </a:t>
            </a:r>
            <a:r>
              <a:rPr lang="en-US" sz="1600" dirty="0">
                <a:solidFill>
                  <a:srgbClr val="ECEFF7"/>
                </a:solidFill>
                <a:latin typeface="Segoe UI"/>
              </a:rPr>
              <a:t>p</a:t>
            </a:r>
            <a:r>
              <a:rPr sz="1600" dirty="0">
                <a:solidFill>
                  <a:srgbClr val="ECEFF7"/>
                </a:solidFill>
                <a:latin typeface="Segoe UI"/>
              </a:rPr>
              <a:t>eople.</a:t>
            </a:r>
            <a:endParaRPr lang="en-US" sz="1600" dirty="0">
              <a:solidFill>
                <a:srgbClr val="ECEFF7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ECEFF7"/>
                </a:solidFill>
                <a:latin typeface="Segoe UI"/>
              </a:rPr>
              <a:t>Other cleaning: HR clipped 25–240 bpm, jerk clipped at p99.5, steps ≥ 0, median imputation downstream.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4639" cy="813816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D9BFF"/>
                </a:solidFill>
                <a:latin typeface="Segoe UI"/>
              </a:rPr>
              <a:t>05  · 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540 features in four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2606040" cy="2286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148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dirty="0">
                <a:solidFill>
                  <a:srgbClr val="9B6CFF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06040"/>
            <a:ext cx="2148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114985"/>
            <a:ext cx="21488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night progress, sin/cos cycles, daily clock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737360"/>
            <a:ext cx="2606040" cy="2286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920240"/>
            <a:ext cx="2148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dirty="0">
                <a:solidFill>
                  <a:srgbClr val="4D9BFF"/>
                </a:solidFill>
                <a:latin typeface="Segoe UI"/>
              </a:rPr>
              <a:t>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606040"/>
            <a:ext cx="2148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110779"/>
            <a:ext cx="21488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8 series × 4 windows × 9 stats + activity constants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37360"/>
            <a:ext cx="2606040" cy="2286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20240"/>
            <a:ext cx="2148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dirty="0">
                <a:solidFill>
                  <a:srgbClr val="35E0C8"/>
                </a:solidFill>
                <a:latin typeface="Segoe UI"/>
              </a:rPr>
              <a:t>235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06040"/>
            <a:ext cx="2148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Heart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110778"/>
            <a:ext cx="21488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4 series × 6 windows × 9 stats + HRV proxies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1737360"/>
            <a:ext cx="2606040" cy="22860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71432" y="1920240"/>
            <a:ext cx="2148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dirty="0">
                <a:solidFill>
                  <a:srgbClr val="FFB34D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606040"/>
            <a:ext cx="2148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106750"/>
            <a:ext cx="21488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rolling sums over 15 min → 24 h + 2 constants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297680"/>
            <a:ext cx="10744200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8"/>
            <a:ext cx="10241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4D9BFF"/>
                </a:solidFill>
                <a:latin typeface="Segoe UI"/>
              </a:rPr>
              <a:t>Why the larger feature set helps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37760"/>
            <a:ext cx="10241280" cy="859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dirty="0">
                <a:solidFill>
                  <a:srgbClr val="ECEFF7"/>
                </a:solidFill>
                <a:latin typeface="Segoe UI"/>
              </a:rPr>
              <a:t>A larger feature set </a:t>
            </a:r>
            <a:r>
              <a:rPr sz="1600" b="1" dirty="0">
                <a:solidFill>
                  <a:srgbClr val="ECEFF7"/>
                </a:solidFill>
                <a:latin typeface="Segoe UI"/>
              </a:rPr>
              <a:t>without</a:t>
            </a:r>
            <a:r>
              <a:rPr sz="1600" b="0" dirty="0">
                <a:solidFill>
                  <a:srgbClr val="ECEFF7"/>
                </a:solidFill>
                <a:latin typeface="Segoe UI"/>
              </a:rPr>
              <a:t> subject normalization mostly adds noise. The combination is what matters: wider HR context windows (up to 1 hour), HRV-style summaries and subject-normalized series together gave the boosters enough physiologically-grounded structure to push past the 76% accuracy plateau from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8105" cy="813816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B6CFF"/>
                </a:solidFill>
                <a:latin typeface="Segoe UI"/>
              </a:rPr>
              <a:t>06  ·  DEMO vs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Feature engineering &amp; models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tion_8_1_featur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961" y="2369432"/>
            <a:ext cx="5818162" cy="2309026"/>
          </a:xfrm>
          <a:prstGeom prst="rect">
            <a:avLst/>
          </a:prstGeom>
        </p:spPr>
      </p:pic>
      <p:pic>
        <p:nvPicPr>
          <p:cNvPr id="8" name="Picture 7" descr="section_8_2_model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53640" y="3429000"/>
            <a:ext cx="5952140" cy="2671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49594C-C746-2B49-07B4-A4CA65BDF1EB}"/>
              </a:ext>
            </a:extLst>
          </p:cNvPr>
          <p:cNvSpPr txBox="1"/>
          <p:nvPr/>
        </p:nvSpPr>
        <p:spPr>
          <a:xfrm>
            <a:off x="303042" y="2005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ECEFF7"/>
                </a:solidFill>
                <a:latin typeface="Segoe UI"/>
              </a:rPr>
              <a:t>Feature engineering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91FD40-020C-5C82-8500-1A91A99C5C9D}"/>
              </a:ext>
            </a:extLst>
          </p:cNvPr>
          <p:cNvSpPr txBox="1"/>
          <p:nvPr/>
        </p:nvSpPr>
        <p:spPr>
          <a:xfrm>
            <a:off x="5908432" y="3053878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ECEFF7"/>
                </a:solidFill>
                <a:latin typeface="Segoe UI"/>
              </a:rPr>
              <a:t>Models and Combination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096783-535E-B5AA-0510-5775216AC051}"/>
              </a:ext>
            </a:extLst>
          </p:cNvPr>
          <p:cNvSpPr/>
          <p:nvPr/>
        </p:nvSpPr>
        <p:spPr>
          <a:xfrm>
            <a:off x="1604538" y="1949205"/>
            <a:ext cx="3493008" cy="9144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F9B860-AFE9-657E-0717-530D0853A048}"/>
              </a:ext>
            </a:extLst>
          </p:cNvPr>
          <p:cNvSpPr/>
          <p:nvPr/>
        </p:nvSpPr>
        <p:spPr>
          <a:xfrm>
            <a:off x="7283206" y="2913823"/>
            <a:ext cx="3493008" cy="9144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20" cy="813816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B6CFF"/>
                </a:solidFill>
                <a:latin typeface="Segoe UI"/>
              </a:rPr>
              <a:t>06  ·  DEMO vs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Headline results &amp; scoring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tion_8_4_result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0124" y="2008453"/>
            <a:ext cx="7220618" cy="2005858"/>
          </a:xfrm>
          <a:prstGeom prst="rect">
            <a:avLst/>
          </a:prstGeom>
        </p:spPr>
      </p:pic>
      <p:pic>
        <p:nvPicPr>
          <p:cNvPr id="8" name="Picture 7" descr="section_8_5_scor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57881" y="4472595"/>
            <a:ext cx="7642999" cy="21603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050865-3278-0B5B-D32C-7B5DBBD49CE0}"/>
              </a:ext>
            </a:extLst>
          </p:cNvPr>
          <p:cNvSpPr txBox="1"/>
          <p:nvPr/>
        </p:nvSpPr>
        <p:spPr>
          <a:xfrm>
            <a:off x="1492433" y="1609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ECEFF7"/>
                </a:solidFill>
                <a:latin typeface="Segoe UI"/>
              </a:rPr>
              <a:t>Headline Results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9B989-4470-21A8-01B5-935697C40DC4}"/>
              </a:ext>
            </a:extLst>
          </p:cNvPr>
          <p:cNvSpPr txBox="1"/>
          <p:nvPr/>
        </p:nvSpPr>
        <p:spPr>
          <a:xfrm>
            <a:off x="3990191" y="4103263"/>
            <a:ext cx="617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ECEFF7"/>
                </a:solidFill>
                <a:latin typeface="Segoe UI"/>
              </a:rPr>
              <a:t>Digital Twin Scoring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07D7E6-0AD2-9664-B956-0624004F07B2}"/>
              </a:ext>
            </a:extLst>
          </p:cNvPr>
          <p:cNvSpPr/>
          <p:nvPr/>
        </p:nvSpPr>
        <p:spPr>
          <a:xfrm>
            <a:off x="2793929" y="1541764"/>
            <a:ext cx="3493008" cy="9144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2BA375-59DA-D784-839E-C417B19DB15A}"/>
              </a:ext>
            </a:extLst>
          </p:cNvPr>
          <p:cNvSpPr/>
          <p:nvPr/>
        </p:nvSpPr>
        <p:spPr>
          <a:xfrm>
            <a:off x="5332876" y="4103263"/>
            <a:ext cx="3493008" cy="91440"/>
          </a:xfrm>
          <a:prstGeom prst="rect">
            <a:avLst/>
          </a:prstGeom>
          <a:solidFill>
            <a:srgbClr val="FF4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07  · 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Subject-level train / val / 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493008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3493008" cy="9144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349300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dirty="0">
                <a:solidFill>
                  <a:srgbClr val="35E0C8"/>
                </a:solidFill>
                <a:latin typeface="Segoe U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32591"/>
            <a:ext cx="34930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Training subjects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828800"/>
            <a:ext cx="3493008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19" y="1828800"/>
            <a:ext cx="3493008" cy="9144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19" y="2148840"/>
            <a:ext cx="349300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dirty="0">
                <a:solidFill>
                  <a:srgbClr val="FFB34D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132591"/>
            <a:ext cx="34930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Validation subjects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6" y="1828800"/>
            <a:ext cx="3493008" cy="18288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6" y="1828800"/>
            <a:ext cx="3493008" cy="9144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6" y="2148840"/>
            <a:ext cx="349300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9B6CFF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6" y="3132591"/>
            <a:ext cx="34930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Test subjects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14800"/>
            <a:ext cx="10698480" cy="1972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ECEFF7"/>
                </a:solidFill>
                <a:latin typeface="Segoe UI"/>
              </a:rPr>
              <a:t>GroupShuffleSplit</a:t>
            </a:r>
            <a:r>
              <a:rPr sz="2000" b="1" dirty="0">
                <a:solidFill>
                  <a:srgbClr val="ECEFF7"/>
                </a:solidFill>
                <a:latin typeface="Segoe UI"/>
              </a:rPr>
              <a:t>, seed 42. </a:t>
            </a:r>
            <a:r>
              <a:rPr sz="2000" dirty="0">
                <a:solidFill>
                  <a:srgbClr val="9AA4C0"/>
                </a:solidFill>
                <a:latin typeface="Segoe UI"/>
              </a:rPr>
              <a:t>Subject-level grouping — no subject appears in more than one fold.</a:t>
            </a:r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Why it matters. </a:t>
            </a:r>
            <a:r>
              <a:rPr sz="2000" dirty="0">
                <a:solidFill>
                  <a:srgbClr val="9AA4C0"/>
                </a:solidFill>
                <a:latin typeface="Segoe UI"/>
              </a:rPr>
              <a:t>If epochs from the same subject land in both train and test, the model memorizes subject-specific patterns and inflates performance.</a:t>
            </a:r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Result. </a:t>
            </a:r>
            <a:r>
              <a:rPr sz="2000" dirty="0">
                <a:solidFill>
                  <a:srgbClr val="9AA4C0"/>
                </a:solidFill>
                <a:latin typeface="Segoe UI"/>
              </a:rPr>
              <a:t>Reported numbers measure generalization to unseen subjects, not memorization.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13816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D9BFF"/>
                </a:solidFill>
                <a:latin typeface="Segoe UI"/>
              </a:rPr>
              <a:t>08  · 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Five base learners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10744200" cy="841248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91440" cy="841248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 err="1">
                <a:solidFill>
                  <a:srgbClr val="ECEFF7"/>
                </a:solidFill>
                <a:latin typeface="Segoe UI"/>
              </a:rPr>
              <a:t>XGBoost</a:t>
            </a:r>
            <a:r>
              <a:rPr sz="1600" b="1" dirty="0">
                <a:solidFill>
                  <a:srgbClr val="ECEFF7"/>
                </a:solidFill>
                <a:latin typeface="Segoe UI"/>
              </a:rPr>
              <a:t> (CUDA)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10512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4C0"/>
                </a:solidFill>
                <a:latin typeface="Segoe UI"/>
              </a:rPr>
              <a:t>1500 trees · depth 6 · lr 0.03 · GPU histogram, CPU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06040"/>
            <a:ext cx="10744200" cy="841248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606040"/>
            <a:ext cx="91440" cy="841248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FF7"/>
                </a:solidFill>
                <a:latin typeface="Segoe UI"/>
              </a:rPr>
              <a:t>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24912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4C0"/>
                </a:solidFill>
                <a:latin typeface="Segoe UI"/>
              </a:rPr>
              <a:t>2000 trees · 95 leaves · lr 0.025 · balanced weighting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20440"/>
            <a:ext cx="10744200" cy="841248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3520440"/>
            <a:ext cx="91440" cy="841248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FF7"/>
                </a:solidFill>
                <a:latin typeface="Segoe UI"/>
              </a:rPr>
              <a:t>CatBoost (default)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39312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4C0"/>
                </a:solidFill>
                <a:latin typeface="Segoe UI"/>
              </a:rPr>
              <a:t>2000 iters · depth 7 · lr 0.04 — standout single learner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34840"/>
            <a:ext cx="10744200" cy="841248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4434840"/>
            <a:ext cx="91440" cy="841248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5537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FF7"/>
                </a:solidFill>
                <a:latin typeface="Segoe UI"/>
              </a:rPr>
              <a:t>CatBoost (Optuna)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53712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4C0"/>
                </a:solidFill>
                <a:latin typeface="Segoe UI"/>
              </a:rPr>
              <a:t>TPE sweep · depth 9 · lr 0.034 · val macro F1 0.7057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349240"/>
            <a:ext cx="10744200" cy="841248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5349240"/>
            <a:ext cx="91440" cy="841248"/>
          </a:xfrm>
          <a:prstGeom prst="rect">
            <a:avLst/>
          </a:prstGeom>
          <a:solidFill>
            <a:srgbClr val="FF4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681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FF7"/>
                </a:solidFill>
                <a:latin typeface="Segoe UI"/>
              </a:rPr>
              <a:t>BiLSTM + 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468112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4C0"/>
                </a:solidFill>
                <a:latin typeface="Segoe UI"/>
              </a:rPr>
              <a:t>focal loss γ=1.5 · hidden 64 · 15-epoch context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C0"/>
                </a:solidFill>
                <a:latin typeface="Segoe UI"/>
              </a:rPr>
              <a:t>Median imputation shared across boosters · BiLSTM trained in a sidecar Python 3.11 conda env (CPU PyTorch)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2159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09  ·  ENSEMBLE &amp; POST-PROCESSING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Geometric mean + HMM/Viterbi smoothing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5486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35E0C8"/>
                </a:solidFill>
                <a:latin typeface="Segoe UI"/>
              </a:rPr>
              <a:t>Ensemble heads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5303520" cy="137807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ECEFF7"/>
                </a:solidFill>
                <a:latin typeface="Segoe UI"/>
              </a:rPr>
              <a:t>Arithmetic mean. </a:t>
            </a:r>
            <a:r>
              <a:rPr sz="1350" dirty="0">
                <a:solidFill>
                  <a:srgbClr val="9AA4C0"/>
                </a:solidFill>
                <a:latin typeface="Segoe UI"/>
              </a:rPr>
              <a:t>Per-class average across the five learners.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ECEFF7"/>
                </a:solidFill>
                <a:latin typeface="Segoe UI"/>
              </a:rPr>
              <a:t>Geometric mean (winner). </a:t>
            </a:r>
            <a:r>
              <a:rPr sz="1350" dirty="0">
                <a:solidFill>
                  <a:srgbClr val="9AA4C0"/>
                </a:solidFill>
                <a:latin typeface="Segoe UI"/>
              </a:rPr>
              <a:t>Log-space average — robust when one learner is confidently wrong.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50" b="1" dirty="0" err="1">
                <a:solidFill>
                  <a:srgbClr val="ECEFF7"/>
                </a:solidFill>
                <a:latin typeface="Segoe UI"/>
              </a:rPr>
              <a:t>Logreg</a:t>
            </a:r>
            <a:r>
              <a:rPr sz="1350" b="1" dirty="0">
                <a:solidFill>
                  <a:srgbClr val="ECEFF7"/>
                </a:solidFill>
                <a:latin typeface="Segoe UI"/>
              </a:rPr>
              <a:t> stack. </a:t>
            </a:r>
            <a:r>
              <a:rPr sz="1350" dirty="0">
                <a:solidFill>
                  <a:srgbClr val="9AA4C0"/>
                </a:solidFill>
                <a:latin typeface="Segoe UI"/>
              </a:rPr>
              <a:t>Meta-learner; underperforms because boosters memorize their training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06240"/>
            <a:ext cx="5486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9B6CFF"/>
                </a:solidFill>
                <a:latin typeface="Segoe UI"/>
              </a:rPr>
              <a:t>HMM / Viterbi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5303520" cy="135242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ECEFF7"/>
                </a:solidFill>
                <a:latin typeface="Segoe UI"/>
              </a:rPr>
              <a:t>Counts label transitions (Laplace-smoothed) + initial-stage frequencies.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ECEFF7"/>
                </a:solidFill>
                <a:latin typeface="Segoe UI"/>
              </a:rPr>
              <a:t>Treats per-epoch probabilities as emission likelihoods; Viterbi-decodes per subject.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ECEFF7"/>
                </a:solidFill>
                <a:latin typeface="Segoe UI"/>
              </a:rPr>
              <a:t>Lifts accuracy and </a:t>
            </a:r>
            <a:r>
              <a:rPr sz="1350" dirty="0" err="1">
                <a:solidFill>
                  <a:srgbClr val="ECEFF7"/>
                </a:solidFill>
                <a:latin typeface="Segoe UI"/>
              </a:rPr>
              <a:t>κ</a:t>
            </a:r>
            <a:r>
              <a:rPr sz="1350" dirty="0">
                <a:solidFill>
                  <a:srgbClr val="ECEFF7"/>
                </a:solidFill>
                <a:latin typeface="Segoe UI"/>
              </a:rPr>
              <a:t> by 1–3 pp, smoothing single-epoch flicker.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029200" cy="448056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0" y="1874519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9AA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874519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Raw wearable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50007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4C0"/>
                </a:solidFill>
                <a:latin typeface="Segoe U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569463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4D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569463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540-feature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044951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4C0"/>
                </a:solidFill>
                <a:latin typeface="Segoe U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264407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35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3264407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5 base learners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39895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4C0"/>
                </a:solidFill>
                <a:latin typeface="Segoe U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959351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9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3959351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Geometric-mean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34839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4C0"/>
                </a:solidFill>
                <a:latin typeface="Segoe U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654295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FFB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4654295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HMM / Viterbi smoothing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129783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4C0"/>
                </a:solidFill>
                <a:latin typeface="Segoe U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5349239"/>
            <a:ext cx="3931920" cy="502920"/>
          </a:xfrm>
          <a:prstGeom prst="roundRect">
            <a:avLst/>
          </a:prstGeom>
          <a:solidFill>
            <a:srgbClr val="0B0E1A"/>
          </a:solidFill>
          <a:ln w="1651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5349239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CEFF7"/>
                </a:solidFill>
                <a:latin typeface="Segoe UI"/>
              </a:rPr>
              <a:t>Digital Twin scoring → 6 scores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4128" cy="81381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34D"/>
                </a:solidFill>
                <a:latin typeface="Segoe UI"/>
              </a:rPr>
              <a:t>10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Final leaderboard — 16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tion_16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230" y="1508760"/>
            <a:ext cx="756649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1381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34D"/>
                </a:solidFill>
                <a:latin typeface="Segoe UI"/>
              </a:rPr>
              <a:t>10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Two co-winners on the held-out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5285232" cy="3291840"/>
          </a:xfrm>
          <a:prstGeom prst="roundRect">
            <a:avLst/>
          </a:prstGeom>
          <a:solidFill>
            <a:srgbClr val="121628"/>
          </a:solidFill>
          <a:ln w="19050">
            <a:solidFill>
              <a:srgbClr val="35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5285232" cy="9144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874519"/>
            <a:ext cx="4645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ECEFF7"/>
                </a:solidFill>
                <a:latin typeface="Segoe UI"/>
              </a:rPr>
              <a:t>avg_geo_hmm</a:t>
            </a:r>
            <a:endParaRPr sz="2000" b="1" dirty="0">
              <a:solidFill>
                <a:srgbClr val="ECEFF7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" y="2286000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5E0C8"/>
                </a:solidFill>
                <a:latin typeface="Segoe UI"/>
              </a:rPr>
              <a:t>Geometric mean + HMM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88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28179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35E0C8"/>
                </a:solidFill>
                <a:latin typeface="Segoe UI"/>
              </a:rPr>
              <a:t>0.8035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246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Cohen's 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2751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5E0C8"/>
                </a:solidFill>
                <a:latin typeface="Segoe UI"/>
              </a:rPr>
              <a:t>0.5695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03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Weighted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37323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5E0C8"/>
                </a:solidFill>
                <a:latin typeface="Segoe UI"/>
              </a:rPr>
              <a:t>0.7978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297680"/>
            <a:ext cx="4645152" cy="520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dirty="0">
                <a:solidFill>
                  <a:srgbClr val="9AA4C0"/>
                </a:solidFill>
                <a:latin typeface="Segoe UI"/>
              </a:rPr>
              <a:t>Recommended general-purpose — first to cross 80%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91640"/>
            <a:ext cx="5285232" cy="3291840"/>
          </a:xfrm>
          <a:prstGeom prst="roundRect">
            <a:avLst/>
          </a:prstGeom>
          <a:solidFill>
            <a:srgbClr val="121628"/>
          </a:solidFill>
          <a:ln w="19050">
            <a:solidFill>
              <a:srgbClr val="9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1691640"/>
            <a:ext cx="5285232" cy="9144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1874519"/>
            <a:ext cx="4645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ECEFF7"/>
                </a:solidFill>
                <a:latin typeface="Segoe UI"/>
              </a:rPr>
              <a:t>base_catboost_hmm</a:t>
            </a:r>
            <a:endParaRPr sz="2000" b="1" dirty="0">
              <a:solidFill>
                <a:srgbClr val="ECEFF7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01384" y="2286000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6CFF"/>
                </a:solidFill>
                <a:latin typeface="Segoe UI"/>
              </a:rPr>
              <a:t>CatBoost + HMM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88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Balanced acc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8179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B6CFF"/>
                </a:solidFill>
                <a:latin typeface="Segoe UI"/>
              </a:rPr>
              <a:t>0.7159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246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Macro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2751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B6CFF"/>
                </a:solidFill>
                <a:latin typeface="Segoe UI"/>
              </a:rPr>
              <a:t>0.6993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703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37323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B6CFF"/>
                </a:solidFill>
                <a:latin typeface="Segoe UI"/>
              </a:rPr>
              <a:t>0.7746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4297680"/>
            <a:ext cx="4645152" cy="24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4C0"/>
                </a:solidFill>
                <a:latin typeface="Segoe UI"/>
              </a:rPr>
              <a:t>Best when minority-class (Wake) recall matters most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57800"/>
            <a:ext cx="10698480" cy="84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FFB34D"/>
                </a:solidFill>
                <a:latin typeface="Segoe UI"/>
              </a:rPr>
              <a:t>Reading it. </a:t>
            </a:r>
            <a:r>
              <a:rPr sz="1600" b="0" dirty="0" err="1">
                <a:solidFill>
                  <a:srgbClr val="ECEFF7"/>
                </a:solidFill>
                <a:latin typeface="Segoe UI"/>
              </a:rPr>
              <a:t>CatBoost</a:t>
            </a:r>
            <a:r>
              <a:rPr sz="1600" b="0" dirty="0">
                <a:solidFill>
                  <a:srgbClr val="ECEFF7"/>
                </a:solidFill>
                <a:latin typeface="Segoe UI"/>
              </a:rPr>
              <a:t> is the standout single model — aggressive Wake/REM prediction gives the best balanced accuracy; HMM cleans transitions while preserving minority recall (+3.8 pp accuracy). Geometric mean edges arithmetic because log-averaging is robust to one model being confidently wrong. Both vs the demo's 76.46% / </a:t>
            </a:r>
            <a:r>
              <a:rPr sz="1600" b="0" dirty="0" err="1">
                <a:solidFill>
                  <a:srgbClr val="ECEFF7"/>
                </a:solidFill>
                <a:latin typeface="Segoe UI"/>
              </a:rPr>
              <a:t>κ</a:t>
            </a:r>
            <a:r>
              <a:rPr sz="1600" b="0" dirty="0">
                <a:solidFill>
                  <a:srgbClr val="ECEFF7"/>
                </a:solidFill>
                <a:latin typeface="Segoe UI"/>
              </a:rPr>
              <a:t> 0.5050.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20" cy="81381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34D"/>
                </a:solidFill>
                <a:latin typeface="Segoe UI"/>
              </a:rPr>
              <a:t>10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Model comparison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nel_rank_ribb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027"/>
            <a:ext cx="3657600" cy="2156346"/>
          </a:xfrm>
          <a:prstGeom prst="rect">
            <a:avLst/>
          </a:prstGeom>
        </p:spPr>
      </p:pic>
      <p:pic>
        <p:nvPicPr>
          <p:cNvPr id="8" name="Picture 7" descr="panel_metric_constel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366" y="1554480"/>
            <a:ext cx="3223908" cy="2377440"/>
          </a:xfrm>
          <a:prstGeom prst="rect">
            <a:avLst/>
          </a:prstGeom>
        </p:spPr>
      </p:pic>
      <p:pic>
        <p:nvPicPr>
          <p:cNvPr id="9" name="Picture 8" descr="panel_top_model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216" y="1554480"/>
            <a:ext cx="1996287" cy="2377440"/>
          </a:xfrm>
          <a:prstGeom prst="rect">
            <a:avLst/>
          </a:prstGeom>
        </p:spPr>
      </p:pic>
      <p:pic>
        <p:nvPicPr>
          <p:cNvPr id="10" name="Picture 9" descr="confusion_matrices_normaliz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790" y="4069080"/>
            <a:ext cx="3656100" cy="2468880"/>
          </a:xfrm>
          <a:prstGeom prst="rect">
            <a:avLst/>
          </a:prstGeom>
        </p:spPr>
      </p:pic>
      <p:pic>
        <p:nvPicPr>
          <p:cNvPr id="11" name="Picture 10" descr="panel_skill_fingerpr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464" y="4069080"/>
            <a:ext cx="412731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3261" cy="81381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  <a:latin typeface="Segoe UI"/>
              </a:rPr>
              <a:t>11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From hypnogram to virtual human-state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5669280" cy="452078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Sleep architecture summary. </a:t>
            </a:r>
            <a:r>
              <a:rPr dirty="0">
                <a:solidFill>
                  <a:srgbClr val="9AA4C0"/>
                </a:solidFill>
                <a:latin typeface="Segoe UI"/>
              </a:rPr>
              <a:t>13 fields — TIB, TST, stage minutes, efficiency, REM/NREM fractions, onset latency, REM latency, WASO, awakenings, cycle count.</a:t>
            </a: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Universal physiology summary. </a:t>
            </a:r>
            <a:r>
              <a:rPr dirty="0">
                <a:solidFill>
                  <a:srgbClr val="9AA4C0"/>
                </a:solidFill>
                <a:latin typeface="Segoe UI"/>
              </a:rPr>
              <a:t>Pre-sleep HR, sleep HR, HR dip %, overnight drift, HRV proxy, movement index — real Apple SDNN used when available.</a:t>
            </a: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Six scores. </a:t>
            </a:r>
            <a:r>
              <a:rPr dirty="0">
                <a:solidFill>
                  <a:srgbClr val="9AA4C0"/>
                </a:solidFill>
                <a:latin typeface="Segoe UI"/>
              </a:rPr>
              <a:t>Each a 100-pt weighted sum of named, individually-bounded components tied to a literature target.</a:t>
            </a:r>
          </a:p>
          <a:p>
            <a:pPr marL="285750" indent="-285750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ECEFF7"/>
                </a:solidFill>
                <a:latin typeface="Segoe UI"/>
              </a:rPr>
              <a:t>Surfaced, not hidden. </a:t>
            </a:r>
            <a:r>
              <a:rPr dirty="0">
                <a:solidFill>
                  <a:srgbClr val="9AA4C0"/>
                </a:solidFill>
                <a:latin typeface="Segoe UI"/>
              </a:rPr>
              <a:t>Tap any score card → flip overlay shows each component as a bar with points and its 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4709160" cy="429768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9168" y="1874519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35E0C8"/>
                </a:solidFill>
                <a:latin typeface="Segoe UI"/>
              </a:rPr>
              <a:t>Example: Recovery (100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423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CEFF7"/>
                </a:solidFill>
                <a:latin typeface="Segoe UI"/>
              </a:rPr>
              <a:t>Sleep 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5432" y="2488620"/>
            <a:ext cx="2286000" cy="237744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0" y="2413697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9AA4C0"/>
                </a:solidFill>
                <a:latin typeface="Segoe U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9900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CEFF7"/>
                </a:solidFill>
                <a:latin typeface="Segoe UI"/>
              </a:rPr>
              <a:t>HR dip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5432" y="3044952"/>
            <a:ext cx="1428750" cy="237744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41352" y="2990088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9AA4C0"/>
                </a:solidFill>
                <a:latin typeface="Segoe U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55701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CEFF7"/>
                </a:solidFill>
                <a:latin typeface="Segoe UI"/>
              </a:rPr>
              <a:t>HRV proxy / real SDNN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2530" y="3592461"/>
            <a:ext cx="1143000" cy="237744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21312" y="3565971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4C0"/>
                </a:solidFill>
                <a:latin typeface="Segoe U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12394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CEFF7"/>
                </a:solidFill>
                <a:latin typeface="Segoe UI"/>
              </a:rPr>
              <a:t>HR stability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13673" y="4178808"/>
            <a:ext cx="857250" cy="23774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1272" y="4123944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4C0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4937760"/>
            <a:ext cx="4160520" cy="72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Each component has a bounded source signal, a literature target, and a capped point contribution — so no single term can dominate.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2688" cy="81381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  <a:latin typeface="Segoe UI"/>
              </a:rPr>
              <a:t>11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The six human-state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91440" cy="1371600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9B6CFF"/>
                </a:solidFill>
                <a:latin typeface="Segoe UI"/>
              </a:rPr>
              <a:t>Sleep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58568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7 components: duration, efficiency, REM/NREM balance, WASO, onset latency, cycles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91640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691640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856232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B6B"/>
                </a:solidFill>
                <a:latin typeface="Segoe UI"/>
              </a:rPr>
              <a:t>Sleep debt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8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Tonight's deficit vs 8 h target — labelled honestly (1 night per subject)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72968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3172968"/>
            <a:ext cx="91440" cy="1371600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5E0C8"/>
                </a:solidFill>
                <a:latin typeface="Segoe UI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39896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Sleep contribution + HR dip + HRV + HR stability (real SDNN preferred)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172968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3172968"/>
            <a:ext cx="91440" cy="1371600"/>
          </a:xfrm>
          <a:prstGeom prst="rect">
            <a:avLst/>
          </a:prstGeom>
          <a:solidFill>
            <a:srgbClr val="FF4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337560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4DA6"/>
                </a:solidFill>
                <a:latin typeface="Segoe UI"/>
              </a:rPr>
              <a:t>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39896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Inverse HR dip + low HRV + overnight HR climb + activity + inefficiency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654296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4654296"/>
            <a:ext cx="91440" cy="137160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818888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B34D"/>
                </a:solidFill>
                <a:latin typeface="Segoe UI"/>
              </a:rPr>
              <a:t>Fatigue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21224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Inverse recovery + activity load + sleep deficit + fragmentation + strain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654296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81344" y="4654296"/>
            <a:ext cx="91440" cy="1371600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818888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D9BFF"/>
                </a:solidFill>
                <a:latin typeface="Segoe UI"/>
              </a:rPr>
              <a:t>Energy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221224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Thin composite: 0.5×recovery + 0.3×(100−fatigue) + 0.2×sleep quality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13816"/>
          </a:xfrm>
          <a:prstGeom prst="rect">
            <a:avLst/>
          </a:prstGeom>
          <a:solidFill>
            <a:srgbClr val="4D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D9BFF"/>
                </a:solidFill>
                <a:latin typeface="Segoe UI"/>
              </a:rPr>
              <a:t>12  ·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Offline training · live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tion_19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81" y="1554480"/>
            <a:ext cx="686395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828800"/>
            <a:ext cx="3017520" cy="324197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ECEFF7"/>
                </a:solidFill>
                <a:latin typeface="Segoe UI"/>
              </a:rPr>
              <a:t>Training runs once, offline → frozen probabilities on disk.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ECEFF7"/>
                </a:solidFill>
                <a:latin typeface="Segoe UI"/>
              </a:rPr>
              <a:t>Live path slices cached probabilities, smooths, scores — in </a:t>
            </a:r>
            <a:r>
              <a:rPr dirty="0" err="1">
                <a:solidFill>
                  <a:srgbClr val="ECEFF7"/>
                </a:solidFill>
                <a:latin typeface="Segoe UI"/>
              </a:rPr>
              <a:t>ms.</a:t>
            </a:r>
            <a:endParaRPr dirty="0">
              <a:solidFill>
                <a:srgbClr val="ECEFF7"/>
              </a:solidFill>
              <a:latin typeface="Segoe UI"/>
            </a:endParaRP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ECEFF7"/>
                </a:solidFill>
                <a:latin typeface="Segoe UI"/>
              </a:rPr>
              <a:t>FastAPI</a:t>
            </a:r>
            <a:r>
              <a:rPr dirty="0">
                <a:solidFill>
                  <a:srgbClr val="ECEFF7"/>
                </a:solidFill>
                <a:latin typeface="Segoe UI"/>
              </a:rPr>
              <a:t> + single-page app boots in ~1 s; no model re-deserialization per request.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20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13  · 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Interface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landi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40" y="1712595"/>
            <a:ext cx="2743200" cy="3341370"/>
          </a:xfrm>
          <a:prstGeom prst="rect">
            <a:avLst/>
          </a:prstGeom>
        </p:spPr>
      </p:pic>
      <p:pic>
        <p:nvPicPr>
          <p:cNvPr id="8" name="Picture 7" descr="02_score_flip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0" y="1711642"/>
            <a:ext cx="2743200" cy="3343275"/>
          </a:xfrm>
          <a:prstGeom prst="rect">
            <a:avLst/>
          </a:prstGeom>
        </p:spPr>
      </p:pic>
      <p:pic>
        <p:nvPicPr>
          <p:cNvPr id="9" name="Picture 8" descr="04_whatif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9360" y="1711642"/>
            <a:ext cx="2743200" cy="3343275"/>
          </a:xfrm>
          <a:prstGeom prst="rect">
            <a:avLst/>
          </a:prstGeom>
        </p:spPr>
      </p:pic>
      <p:pic>
        <p:nvPicPr>
          <p:cNvPr id="10" name="Picture 9" descr="05_methodology_dra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583180"/>
            <a:ext cx="256032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71856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ECEFF7"/>
                </a:solidFill>
                <a:latin typeface="Segoe UI"/>
              </a:rPr>
              <a:t>Landing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071856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CEFF7"/>
                </a:solidFill>
                <a:latin typeface="Segoe UI"/>
              </a:rPr>
              <a:t>Score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071856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CEFF7"/>
                </a:solidFill>
                <a:latin typeface="Segoe UI"/>
              </a:rPr>
              <a:t>What-if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071856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CEFF7"/>
                </a:solidFill>
                <a:latin typeface="Segoe UI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1155680" cy="542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dirty="0">
                <a:solidFill>
                  <a:srgbClr val="9AA4C0"/>
                </a:solidFill>
                <a:latin typeface="Segoe UI"/>
              </a:rPr>
              <a:t>Dark “aurora” theme · 270° segmented dial · bento-grid score cards · constellation hypnogram (REM = pulsing stars, Wake = spikes) · live what-if dials updating all six scores in ~120 </a:t>
            </a:r>
            <a:r>
              <a:rPr sz="1600" b="0" dirty="0" err="1">
                <a:solidFill>
                  <a:srgbClr val="9AA4C0"/>
                </a:solidFill>
                <a:latin typeface="Segoe UI"/>
              </a:rPr>
              <a:t>ms.</a:t>
            </a:r>
            <a:endParaRPr sz="1600" b="0" dirty="0">
              <a:solidFill>
                <a:srgbClr val="9AA4C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2688" cy="813816"/>
          </a:xfrm>
          <a:prstGeom prst="rect">
            <a:avLst/>
          </a:prstGeom>
          <a:solidFill>
            <a:srgbClr val="9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B6CFF"/>
                </a:solidFill>
                <a:latin typeface="Segoe UI"/>
              </a:rPr>
              <a:t>13  · 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Apple Health import &amp;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_apple_import_audi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891" y="1554480"/>
            <a:ext cx="3221737" cy="4937760"/>
          </a:xfrm>
          <a:prstGeom prst="rect">
            <a:avLst/>
          </a:prstGeom>
        </p:spPr>
      </p:pic>
      <p:pic>
        <p:nvPicPr>
          <p:cNvPr id="8" name="Picture 7" descr="03_constellation_overl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10035"/>
            <a:ext cx="6583680" cy="1717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3657600"/>
            <a:ext cx="6583680" cy="2224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Drop your own </a:t>
            </a:r>
            <a:r>
              <a:rPr sz="1400" b="1" dirty="0" err="1">
                <a:solidFill>
                  <a:srgbClr val="ECEFF7"/>
                </a:solidFill>
                <a:latin typeface="Segoe UI"/>
              </a:rPr>
              <a:t>export.zip</a:t>
            </a:r>
            <a:r>
              <a:rPr sz="1400" b="1" dirty="0">
                <a:solidFill>
                  <a:srgbClr val="ECEFF7"/>
                </a:solidFill>
                <a:latin typeface="Segoe UI"/>
              </a:rPr>
              <a:t>.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Switches to the most recent detailed-stage night, scored through the same pipeline.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Audit card.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Tonight's wearable summary, 7-day history context, and per-record-type parse counts — full transparency.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Real HRV consumed.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Apple SDNN (</a:t>
            </a:r>
            <a:r>
              <a:rPr sz="1400" dirty="0" err="1">
                <a:solidFill>
                  <a:srgbClr val="9AA4C0"/>
                </a:solidFill>
                <a:latin typeface="Segoe UI"/>
              </a:rPr>
              <a:t>ms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) feeds recovery &amp; stress directly — not just displayed in a table.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ECEFF7"/>
                </a:solidFill>
                <a:latin typeface="Segoe UI"/>
              </a:rPr>
              <a:t>Memory-bounded. </a:t>
            </a:r>
            <a:r>
              <a:rPr sz="1400" dirty="0">
                <a:solidFill>
                  <a:srgbClr val="9AA4C0"/>
                </a:solidFill>
                <a:latin typeface="Segoe UI"/>
              </a:rPr>
              <a:t>Retains only the last 30 days so multi-GB histories can't exhaust 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20" cy="81381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34D"/>
                </a:solidFill>
                <a:latin typeface="Segoe UI"/>
              </a:rPr>
              <a:t>14  ·  SPRINT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Weeks 5–8 — re-baselined post-demo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tion_21_sprin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59" y="1508760"/>
            <a:ext cx="3180521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6301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B34D"/>
                </a:solidFill>
                <a:latin typeface="Segoe UI"/>
              </a:rPr>
              <a:t>Sprint 5 — Re-baseline ML stack</a:t>
            </a:r>
          </a:p>
        </p:txBody>
      </p:sp>
      <p:pic>
        <p:nvPicPr>
          <p:cNvPr id="9" name="Picture 8" descr="section_21_sprin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163" y="1508760"/>
            <a:ext cx="2966474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6301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B34D"/>
                </a:solidFill>
                <a:latin typeface="Segoe UI"/>
              </a:rPr>
              <a:t>Sprint 6 — Ensemble, smoothing, scoring</a:t>
            </a:r>
          </a:p>
        </p:txBody>
      </p:sp>
      <p:pic>
        <p:nvPicPr>
          <p:cNvPr id="11" name="Picture 10" descr="section_21_sprint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859" y="4023360"/>
            <a:ext cx="3180521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1447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B34D"/>
                </a:solidFill>
                <a:latin typeface="Segoe UI"/>
              </a:rPr>
              <a:t>Sprint 7 — Single-page application</a:t>
            </a:r>
          </a:p>
        </p:txBody>
      </p:sp>
      <p:pic>
        <p:nvPicPr>
          <p:cNvPr id="13" name="Picture 12" descr="section_21_sprint_8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7375" y="4023360"/>
            <a:ext cx="2376049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61447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B34D"/>
                </a:solidFill>
                <a:latin typeface="Segoe UI"/>
              </a:rPr>
              <a:t>Sprint 8 — Apple Health re-plumbing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5719" cy="81381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  <a:latin typeface="Segoe UI"/>
              </a:rPr>
              <a:t>15  ·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Stated honestly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37944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ECEFF7"/>
                </a:solidFill>
                <a:latin typeface="Segoe UI"/>
              </a:rPr>
              <a:t>Scores are engineering estimates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58568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AA4C0"/>
                </a:solidFill>
                <a:latin typeface="Segoe UI"/>
              </a:rPr>
              <a:t>No subjective ground truth (KSS/PSQI/RPE) — weights come from literature, not supervised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91640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691640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837944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Apple path doesn't re-run the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8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Apple's export lacks raw 50 Hz accel — it validates the scoring layer, not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72968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3172968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19272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Wake is the hardest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39896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Typical of wrist staging; HMM helps but can't fully resolve short awakenings.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172968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3172968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319272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One night per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39896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True multi-night sleep debt can't be computed from training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654296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4654296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Out-of-fold stacking deferred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21224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Logreg meta-learner overfits in-sample probabilities; geo-mean shipped instead.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654296"/>
            <a:ext cx="5285232" cy="1371600"/>
          </a:xfrm>
          <a:prstGeom prst="roundRect">
            <a:avLst/>
          </a:prstGeom>
          <a:solidFill>
            <a:srgbClr val="121628"/>
          </a:solidFill>
          <a:ln w="12700">
            <a:solidFill>
              <a:srgbClr val="26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81344" y="4654296"/>
            <a:ext cx="9144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800600"/>
            <a:ext cx="4736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FF7"/>
                </a:solidFill>
                <a:latin typeface="Segoe UI"/>
              </a:rPr>
              <a:t>No demographic adjustment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221224"/>
            <a:ext cx="4736592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4C0"/>
                </a:solidFill>
                <a:latin typeface="Segoe UI"/>
              </a:rPr>
              <a:t>Same 8 h target for a 25- and a 65-year-old — no age/sex normals in dataset.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2688" cy="813816"/>
          </a:xfrm>
          <a:prstGeom prst="rect">
            <a:avLst/>
          </a:prstGeom>
          <a:solidFill>
            <a:srgbClr val="3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E0C8"/>
                </a:solidFill>
                <a:latin typeface="Segoe UI"/>
              </a:rPr>
              <a:t>16  ·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A complete end-to-end Digital Twin for sleep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10698480" cy="25067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rgbClr val="ECEFF7"/>
                </a:solidFill>
                <a:latin typeface="Segoe UI"/>
              </a:rPr>
              <a:t>Crossed every threshold the demo couldn't. 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Geo-mean + HMM = 80.35% accuracy, </a:t>
            </a:r>
            <a:r>
              <a:rPr sz="1500" dirty="0" err="1">
                <a:solidFill>
                  <a:srgbClr val="9AA4C0"/>
                </a:solidFill>
                <a:latin typeface="Segoe UI"/>
              </a:rPr>
              <a:t>κ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 0.5695; </a:t>
            </a:r>
            <a:r>
              <a:rPr sz="1500" dirty="0" err="1">
                <a:solidFill>
                  <a:srgbClr val="9AA4C0"/>
                </a:solidFill>
                <a:latin typeface="Segoe UI"/>
              </a:rPr>
              <a:t>CatBoost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 + HMM = 0.7159 balanced acc, 0.6993 macro F1.</a:t>
            </a:r>
          </a:p>
          <a:p>
            <a:pPr marL="285750" indent="-285750">
              <a:lnSpc>
                <a:spcPct val="10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rgbClr val="ECEFF7"/>
                </a:solidFill>
                <a:latin typeface="Segoe UI"/>
              </a:rPr>
              <a:t>Four compounding changes. 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Per-subject normalization · </a:t>
            </a:r>
            <a:r>
              <a:rPr sz="1500" dirty="0" err="1">
                <a:solidFill>
                  <a:srgbClr val="9AA4C0"/>
                </a:solidFill>
                <a:latin typeface="Segoe UI"/>
              </a:rPr>
              <a:t>CatBoost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 + </a:t>
            </a:r>
            <a:r>
              <a:rPr sz="1500" dirty="0" err="1">
                <a:solidFill>
                  <a:srgbClr val="9AA4C0"/>
                </a:solidFill>
                <a:latin typeface="Segoe UI"/>
              </a:rPr>
              <a:t>LightGBM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 diversity · focal-loss </a:t>
            </a:r>
            <a:r>
              <a:rPr sz="1500" dirty="0" err="1">
                <a:solidFill>
                  <a:srgbClr val="9AA4C0"/>
                </a:solidFill>
                <a:latin typeface="Segoe UI"/>
              </a:rPr>
              <a:t>BiLSTM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 · HMM smoothing — none enough alone.</a:t>
            </a:r>
          </a:p>
          <a:p>
            <a:pPr marL="285750" indent="-285750">
              <a:lnSpc>
                <a:spcPct val="10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rgbClr val="ECEFF7"/>
                </a:solidFill>
                <a:latin typeface="Segoe UI"/>
              </a:rPr>
              <a:t>Transparent scoring by construction. 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Six scores as named, bounded, literature-grounded components — “what is recovery?” answered in two taps.</a:t>
            </a:r>
          </a:p>
          <a:p>
            <a:pPr marL="285750" indent="-285750">
              <a:lnSpc>
                <a:spcPct val="10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rgbClr val="ECEFF7"/>
                </a:solidFill>
                <a:latin typeface="Segoe UI"/>
              </a:rPr>
              <a:t>One app, two data sources. </a:t>
            </a:r>
            <a:r>
              <a:rPr sz="1500" dirty="0">
                <a:solidFill>
                  <a:srgbClr val="9AA4C0"/>
                </a:solidFill>
                <a:latin typeface="Segoe UI"/>
              </a:rPr>
              <a:t>Same scores, same breakdown UI, same what-if simulator for PSG subjects and personal Apple Health nights.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257800"/>
            <a:ext cx="10744200" cy="1051560"/>
          </a:xfrm>
          <a:prstGeom prst="roundRect">
            <a:avLst/>
          </a:prstGeom>
          <a:solidFill>
            <a:srgbClr val="121628"/>
          </a:solidFill>
          <a:ln w="17780">
            <a:solidFill>
              <a:srgbClr val="35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649652"/>
            <a:ext cx="10241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dirty="0">
                <a:solidFill>
                  <a:srgbClr val="ECEFF7"/>
                </a:solidFill>
                <a:latin typeface="Segoe UI"/>
              </a:rPr>
              <a:t>Wearable signal in, virtual human state out — every step of the reasoning visible to inspection.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3261" cy="813816"/>
          </a:xfrm>
          <a:prstGeom prst="rect">
            <a:avLst/>
          </a:prstGeom>
          <a:solidFill>
            <a:srgbClr val="9AA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4C0"/>
                </a:solidFill>
                <a:latin typeface="Segoe UI"/>
              </a:rPr>
              <a:t>17  · 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CEFF7"/>
                </a:solidFill>
                <a:latin typeface="Segoe UI"/>
              </a:rPr>
              <a:t>Selected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0744200" cy="17780"/>
          </a:xfrm>
          <a:prstGeom prst="rect">
            <a:avLst/>
          </a:prstGeom>
          <a:solidFill>
            <a:srgbClr val="26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[1] Walch, Huang, Forger &amp; Goldstein (2019). Sleep stage prediction with raw acceleration &amp; PPG HR. Sleep, 42(12).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[2] Buysse et al. (1989). The Pittsburgh Sleep Quality Index. Psychiatry Research, 28(2).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[3] </a:t>
            </a:r>
            <a:r>
              <a:rPr sz="1300" dirty="0" err="1">
                <a:solidFill>
                  <a:srgbClr val="9AA4C0"/>
                </a:solidFill>
                <a:latin typeface="Segoe UI"/>
              </a:rPr>
              <a:t>Hirshkowitz</a:t>
            </a:r>
            <a:r>
              <a:rPr sz="1300" dirty="0">
                <a:solidFill>
                  <a:srgbClr val="9AA4C0"/>
                </a:solidFill>
                <a:latin typeface="Segoe UI"/>
              </a:rPr>
              <a:t> et al. (2015). NSF sleep time duration recommendations. Sleep Health, 1(1).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[4] Carskadon &amp; Dement (2005). Normal human sleep: an overview. Principles &amp; Practice of Sleep Medicine.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[5] Reed &amp; Sacco (2016). Measuring sleep efficiency. J. Clinical Sleep Medicine, 12(2).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[6] Trinder et al. (2001). Autonomic activity during human sleep. J. Sleep Research, 10(4).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[7] Plews et al. (2013). HRV in elite endurance athletes. Sports Medicine, 43(9).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[8] Kim et al. (2018). Stress and HRV: a meta-analysis. Psychiatry Investigation, 15(3).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[9] Van Dongen et al. (2003). The cumulative cost of additional wakefulness. Sleep, 26(2).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[10] Walker, M. (2017). Why We Sleep. Scribner.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dirty="0">
                <a:solidFill>
                  <a:srgbClr val="9AA4C0"/>
                </a:solidFill>
                <a:latin typeface="Segoe UI"/>
              </a:rPr>
              <a:t>[11] WHOOP Inc. (2020). Heart Rate Variability methodology overview.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2169</Words>
  <Application>Microsoft Macintosh PowerPoint</Application>
  <PresentationFormat>Widescreen</PresentationFormat>
  <Paragraphs>266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Bat-Erdene Tsogbat</cp:lastModifiedBy>
  <cp:revision>4</cp:revision>
  <dcterms:created xsi:type="dcterms:W3CDTF">2013-01-27T09:14:16Z</dcterms:created>
  <dcterms:modified xsi:type="dcterms:W3CDTF">2026-06-07T13:44:40Z</dcterms:modified>
  <cp:category/>
</cp:coreProperties>
</file>